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704" r:id="rId5"/>
  </p:sldMasterIdLst>
  <p:notesMasterIdLst>
    <p:notesMasterId r:id="rId19"/>
  </p:notesMasterIdLst>
  <p:sldIdLst>
    <p:sldId id="258" r:id="rId6"/>
    <p:sldId id="298" r:id="rId7"/>
    <p:sldId id="284" r:id="rId8"/>
    <p:sldId id="299" r:id="rId9"/>
    <p:sldId id="306" r:id="rId10"/>
    <p:sldId id="300" r:id="rId11"/>
    <p:sldId id="302" r:id="rId12"/>
    <p:sldId id="307" r:id="rId13"/>
    <p:sldId id="308" r:id="rId14"/>
    <p:sldId id="309" r:id="rId15"/>
    <p:sldId id="305" r:id="rId16"/>
    <p:sldId id="292" r:id="rId17"/>
    <p:sldId id="283" r:id="rId18"/>
  </p:sldIdLst>
  <p:sldSz cx="9144000" cy="6858000" type="screen4x3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6600"/>
    <a:srgbClr val="CF3DB0"/>
    <a:srgbClr val="0066FF"/>
    <a:srgbClr val="EE92F8"/>
    <a:srgbClr val="1C2DAA"/>
    <a:srgbClr val="003300"/>
    <a:srgbClr val="FF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5382" autoAdjust="0"/>
  </p:normalViewPr>
  <p:slideViewPr>
    <p:cSldViewPr>
      <p:cViewPr varScale="1">
        <p:scale>
          <a:sx n="123" d="100"/>
          <a:sy n="123" d="100"/>
        </p:scale>
        <p:origin x="24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kti Roesyadi" userId="1ea892e2-1b94-43b6-9615-4aff88d4c9a3" providerId="ADAL" clId="{A41CDE83-B08D-45B6-A8DA-667826D6E07A}"/>
    <pc:docChg chg="custSel delSld modSld">
      <pc:chgData name="Bhakti Roesyadi" userId="1ea892e2-1b94-43b6-9615-4aff88d4c9a3" providerId="ADAL" clId="{A41CDE83-B08D-45B6-A8DA-667826D6E07A}" dt="2026-03-14T13:56:51.003" v="2" actId="47"/>
      <pc:docMkLst>
        <pc:docMk/>
      </pc:docMkLst>
      <pc:sldChg chg="delSp mod setBg">
        <pc:chgData name="Bhakti Roesyadi" userId="1ea892e2-1b94-43b6-9615-4aff88d4c9a3" providerId="ADAL" clId="{A41CDE83-B08D-45B6-A8DA-667826D6E07A}" dt="2026-03-14T13:55:53.221" v="1"/>
        <pc:sldMkLst>
          <pc:docMk/>
          <pc:sldMk cId="2029547876" sldId="258"/>
        </pc:sldMkLst>
        <pc:spChg chg="del">
          <ac:chgData name="Bhakti Roesyadi" userId="1ea892e2-1b94-43b6-9615-4aff88d4c9a3" providerId="ADAL" clId="{A41CDE83-B08D-45B6-A8DA-667826D6E07A}" dt="2026-03-14T13:55:31.541" v="0" actId="478"/>
          <ac:spMkLst>
            <pc:docMk/>
            <pc:sldMk cId="2029547876" sldId="258"/>
            <ac:spMk id="6" creationId="{00000000-0000-0000-0000-000000000000}"/>
          </ac:spMkLst>
        </pc:spChg>
      </pc:sldChg>
      <pc:sldChg chg="del">
        <pc:chgData name="Bhakti Roesyadi" userId="1ea892e2-1b94-43b6-9615-4aff88d4c9a3" providerId="ADAL" clId="{A41CDE83-B08D-45B6-A8DA-667826D6E07A}" dt="2026-03-14T13:56:51.003" v="2" actId="47"/>
        <pc:sldMkLst>
          <pc:docMk/>
          <pc:sldMk cId="763330764" sldId="271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D602D-D496-41C8-878D-ECB27CA3C87E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0D62B0-2566-4DCF-948E-1FEA0AC9A98A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DESKRIPSI PROJECT</a:t>
          </a:r>
        </a:p>
      </dgm:t>
    </dgm:pt>
    <dgm:pt modelId="{DE38A7DA-D586-48A5-B36D-01B917F8E6D9}" type="parTrans" cxnId="{3EB00EFE-2675-4455-BA3F-E76C287443FE}">
      <dgm:prSet/>
      <dgm:spPr/>
      <dgm:t>
        <a:bodyPr/>
        <a:lstStyle/>
        <a:p>
          <a:endParaRPr lang="en-US"/>
        </a:p>
      </dgm:t>
    </dgm:pt>
    <dgm:pt modelId="{612AC17F-7EDE-4BD1-8687-0224534D71CA}" type="sibTrans" cxnId="{3EB00EFE-2675-4455-BA3F-E76C287443FE}">
      <dgm:prSet/>
      <dgm:spPr/>
      <dgm:t>
        <a:bodyPr/>
        <a:lstStyle/>
        <a:p>
          <a:endParaRPr lang="en-US"/>
        </a:p>
      </dgm:t>
    </dgm:pt>
    <dgm:pt modelId="{D5781709-1E1E-486A-8D64-79C76555319D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000" dirty="0">
              <a:latin typeface="Comic Sans MS" panose="030F0702030302020204" pitchFamily="66" charset="0"/>
            </a:rPr>
            <a:t>Reject Peel off </a:t>
          </a:r>
          <a:r>
            <a:rPr lang="en-US" sz="1000" dirty="0" err="1">
              <a:latin typeface="Comic Sans MS" panose="030F0702030302020204" pitchFamily="66" charset="0"/>
            </a:rPr>
            <a:t>adalah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terkelupasnya</a:t>
          </a:r>
          <a:r>
            <a:rPr lang="en-US" sz="1000" dirty="0">
              <a:latin typeface="Comic Sans MS" panose="030F0702030302020204" pitchFamily="66" charset="0"/>
            </a:rPr>
            <a:t> plating </a:t>
          </a:r>
          <a:r>
            <a:rPr lang="en-US" sz="1000" dirty="0" err="1">
              <a:latin typeface="Comic Sans MS" panose="030F0702030302020204" pitchFamily="66" charset="0"/>
            </a:rPr>
            <a:t>pada</a:t>
          </a:r>
          <a:r>
            <a:rPr lang="en-US" sz="1000" dirty="0">
              <a:latin typeface="Comic Sans MS" panose="030F0702030302020204" pitchFamily="66" charset="0"/>
            </a:rPr>
            <a:t> tungsten pin, </a:t>
          </a:r>
          <a:r>
            <a:rPr lang="en-US" sz="1000" dirty="0" err="1">
              <a:latin typeface="Comic Sans MS" panose="030F0702030302020204" pitchFamily="66" charset="0"/>
            </a:rPr>
            <a:t>sehingga</a:t>
          </a:r>
          <a:r>
            <a:rPr lang="en-US" sz="1000" dirty="0">
              <a:latin typeface="Comic Sans MS" panose="030F0702030302020204" pitchFamily="66" charset="0"/>
            </a:rPr>
            <a:t> customer </a:t>
          </a:r>
          <a:r>
            <a:rPr lang="en-US" sz="1000" dirty="0" err="1">
              <a:latin typeface="Comic Sans MS" panose="030F0702030302020204" pitchFamily="66" charset="0"/>
            </a:rPr>
            <a:t>tidak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bisa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melakukan</a:t>
          </a:r>
          <a:r>
            <a:rPr lang="en-US" sz="1000" dirty="0">
              <a:latin typeface="Comic Sans MS" panose="030F0702030302020204" pitchFamily="66" charset="0"/>
            </a:rPr>
            <a:t> solder </a:t>
          </a:r>
          <a:r>
            <a:rPr lang="en-US" sz="1000" dirty="0" err="1">
              <a:latin typeface="Comic Sans MS" panose="030F0702030302020204" pitchFamily="66" charset="0"/>
            </a:rPr>
            <a:t>pada</a:t>
          </a:r>
          <a:r>
            <a:rPr lang="en-US" sz="1000" dirty="0">
              <a:latin typeface="Comic Sans MS" panose="030F0702030302020204" pitchFamily="66" charset="0"/>
            </a:rPr>
            <a:t> customer </a:t>
          </a:r>
          <a:r>
            <a:rPr lang="en-US" sz="1000" dirty="0" err="1">
              <a:latin typeface="Comic Sans MS" panose="030F0702030302020204" pitchFamily="66" charset="0"/>
            </a:rPr>
            <a:t>aplikasi</a:t>
          </a:r>
          <a:r>
            <a:rPr lang="en-US" sz="1000" dirty="0">
              <a:latin typeface="Comic Sans MS" panose="030F0702030302020204" pitchFamily="66" charset="0"/>
            </a:rPr>
            <a:t>. </a:t>
          </a:r>
          <a:r>
            <a:rPr lang="en-US" sz="1000" dirty="0" err="1">
              <a:latin typeface="Comic Sans MS" panose="030F0702030302020204" pitchFamily="66" charset="0"/>
            </a:rPr>
            <a:t>Lumenis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adalah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salah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satu</a:t>
          </a:r>
          <a:r>
            <a:rPr lang="en-US" sz="1000" dirty="0">
              <a:latin typeface="Comic Sans MS" panose="030F0702030302020204" pitchFamily="66" charset="0"/>
            </a:rPr>
            <a:t> customer PHO </a:t>
          </a:r>
          <a:r>
            <a:rPr lang="en-US" sz="1000" dirty="0" err="1">
              <a:latin typeface="Comic Sans MS" panose="030F0702030302020204" pitchFamily="66" charset="0"/>
            </a:rPr>
            <a:t>dan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satu-satunya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cuntomer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untuk</a:t>
          </a:r>
          <a:r>
            <a:rPr lang="en-US" sz="1000" dirty="0">
              <a:latin typeface="Comic Sans MS" panose="030F0702030302020204" pitchFamily="66" charset="0"/>
            </a:rPr>
            <a:t> device L8467</a:t>
          </a:r>
        </a:p>
      </dgm:t>
    </dgm:pt>
    <dgm:pt modelId="{C7540555-148C-49FB-BDD5-6A73C79E2713}" type="parTrans" cxnId="{5E170BA2-38F0-4A21-9AD3-94873245785F}">
      <dgm:prSet/>
      <dgm:spPr/>
      <dgm:t>
        <a:bodyPr/>
        <a:lstStyle/>
        <a:p>
          <a:endParaRPr lang="en-US"/>
        </a:p>
      </dgm:t>
    </dgm:pt>
    <dgm:pt modelId="{0EE2750C-A488-4490-AB06-783B385CF47D}" type="sibTrans" cxnId="{5E170BA2-38F0-4A21-9AD3-94873245785F}">
      <dgm:prSet/>
      <dgm:spPr/>
      <dgm:t>
        <a:bodyPr/>
        <a:lstStyle/>
        <a:p>
          <a:endParaRPr lang="en-US"/>
        </a:p>
      </dgm:t>
    </dgm:pt>
    <dgm:pt modelId="{9DA3B4C5-C56E-456F-BE64-2182D5A77877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TUJUAN PROJECT</a:t>
          </a:r>
        </a:p>
      </dgm:t>
    </dgm:pt>
    <dgm:pt modelId="{27F790DE-5DCB-450F-9B35-C666ED0CA445}" type="parTrans" cxnId="{E85BAB08-E060-4806-BED5-6E546FD36316}">
      <dgm:prSet/>
      <dgm:spPr/>
      <dgm:t>
        <a:bodyPr/>
        <a:lstStyle/>
        <a:p>
          <a:endParaRPr lang="en-US"/>
        </a:p>
      </dgm:t>
    </dgm:pt>
    <dgm:pt modelId="{7BAE0F63-D47A-4E03-9A77-07BC7E599479}" type="sibTrans" cxnId="{E85BAB08-E060-4806-BED5-6E546FD36316}">
      <dgm:prSet/>
      <dgm:spPr/>
      <dgm:t>
        <a:bodyPr/>
        <a:lstStyle/>
        <a:p>
          <a:endParaRPr lang="en-US"/>
        </a:p>
      </dgm:t>
    </dgm:pt>
    <dgm:pt modelId="{58DEA92A-16ED-4262-ADF8-AE7B30707E23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000" dirty="0">
              <a:latin typeface="Comic Sans MS" panose="030F0702030302020204" pitchFamily="66" charset="0"/>
            </a:rPr>
            <a:t>1.  </a:t>
          </a:r>
          <a:r>
            <a:rPr lang="en-US" sz="1000" dirty="0" err="1">
              <a:latin typeface="Comic Sans MS" panose="030F0702030302020204" pitchFamily="66" charset="0"/>
            </a:rPr>
            <a:t>Mengurangi</a:t>
          </a:r>
          <a:r>
            <a:rPr lang="en-US" sz="1000" dirty="0">
              <a:latin typeface="Comic Sans MS" panose="030F0702030302020204" pitchFamily="66" charset="0"/>
            </a:rPr>
            <a:t> Reject Peel off plating di Customer </a:t>
          </a:r>
          <a:r>
            <a:rPr lang="en-US" sz="1000" dirty="0" err="1">
              <a:latin typeface="Comic Sans MS" panose="030F0702030302020204" pitchFamily="66" charset="0"/>
            </a:rPr>
            <a:t>maupun</a:t>
          </a:r>
          <a:r>
            <a:rPr lang="en-US" sz="1000" dirty="0">
              <a:latin typeface="Comic Sans MS" panose="030F0702030302020204" pitchFamily="66" charset="0"/>
            </a:rPr>
            <a:t> production.</a:t>
          </a:r>
        </a:p>
        <a:p>
          <a:r>
            <a:rPr lang="en-US" sz="1000" dirty="0">
              <a:latin typeface="Comic Sans MS" panose="030F0702030302020204" pitchFamily="66" charset="0"/>
            </a:rPr>
            <a:t>2. </a:t>
          </a:r>
          <a:r>
            <a:rPr lang="en-US" sz="1000" dirty="0" err="1">
              <a:latin typeface="Comic Sans MS" panose="030F0702030302020204" pitchFamily="66" charset="0"/>
            </a:rPr>
            <a:t>Meningkatkan</a:t>
          </a:r>
          <a:r>
            <a:rPr lang="en-US" sz="1000" dirty="0">
              <a:latin typeface="Comic Sans MS" panose="030F0702030302020204" pitchFamily="66" charset="0"/>
            </a:rPr>
            <a:t> yield device L8467 </a:t>
          </a:r>
          <a:r>
            <a:rPr lang="en-US" sz="1000" dirty="0" err="1">
              <a:latin typeface="Comic Sans MS" panose="030F0702030302020204" pitchFamily="66" charset="0"/>
            </a:rPr>
            <a:t>dan</a:t>
          </a:r>
          <a:r>
            <a:rPr lang="en-US" sz="1000" dirty="0">
              <a:latin typeface="Comic Sans MS" panose="030F0702030302020204" pitchFamily="66" charset="0"/>
            </a:rPr>
            <a:t> yield Photonic product</a:t>
          </a:r>
        </a:p>
        <a:p>
          <a:r>
            <a:rPr lang="en-US" sz="1000" dirty="0">
              <a:latin typeface="Comic Sans MS" panose="030F0702030302020204" pitchFamily="66" charset="0"/>
            </a:rPr>
            <a:t>3.  </a:t>
          </a:r>
          <a:r>
            <a:rPr lang="en-US" sz="1000" dirty="0" err="1">
              <a:latin typeface="Comic Sans MS" panose="030F0702030302020204" pitchFamily="66" charset="0"/>
            </a:rPr>
            <a:t>Mengurangi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waktu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untuk</a:t>
          </a:r>
          <a:r>
            <a:rPr lang="en-US" sz="1000" dirty="0">
              <a:latin typeface="Comic Sans MS" panose="030F0702030302020204" pitchFamily="66" charset="0"/>
            </a:rPr>
            <a:t> rework </a:t>
          </a:r>
        </a:p>
      </dgm:t>
    </dgm:pt>
    <dgm:pt modelId="{96EFE065-323A-49FE-8FAC-B8998901A252}" type="parTrans" cxnId="{9E7B5BCB-B3FC-4E05-90CA-274295971A22}">
      <dgm:prSet/>
      <dgm:spPr/>
      <dgm:t>
        <a:bodyPr/>
        <a:lstStyle/>
        <a:p>
          <a:endParaRPr lang="en-US"/>
        </a:p>
      </dgm:t>
    </dgm:pt>
    <dgm:pt modelId="{A6781664-52A3-4648-96D1-F4C39E893AFF}" type="sibTrans" cxnId="{9E7B5BCB-B3FC-4E05-90CA-274295971A22}">
      <dgm:prSet/>
      <dgm:spPr/>
      <dgm:t>
        <a:bodyPr/>
        <a:lstStyle/>
        <a:p>
          <a:endParaRPr lang="en-US"/>
        </a:p>
      </dgm:t>
    </dgm:pt>
    <dgm:pt modelId="{95D988FB-DCAA-4F0E-A9D4-4602B2D93791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>
              <a:solidFill>
                <a:srgbClr val="0000FF"/>
              </a:solidFill>
            </a:rPr>
            <a:t>KEUNTUNGAN PROJECT</a:t>
          </a:r>
        </a:p>
      </dgm:t>
    </dgm:pt>
    <dgm:pt modelId="{270C34B7-F97A-4D71-A4A4-02692218924F}" type="parTrans" cxnId="{DDF135FD-D0F3-48DD-A770-8BBDBA1B9BA7}">
      <dgm:prSet/>
      <dgm:spPr/>
      <dgm:t>
        <a:bodyPr/>
        <a:lstStyle/>
        <a:p>
          <a:endParaRPr lang="en-US"/>
        </a:p>
      </dgm:t>
    </dgm:pt>
    <dgm:pt modelId="{0218C361-11FE-4343-B73D-16F55B404C12}" type="sibTrans" cxnId="{DDF135FD-D0F3-48DD-A770-8BBDBA1B9BA7}">
      <dgm:prSet/>
      <dgm:spPr/>
      <dgm:t>
        <a:bodyPr/>
        <a:lstStyle/>
        <a:p>
          <a:endParaRPr lang="en-US"/>
        </a:p>
      </dgm:t>
    </dgm:pt>
    <dgm:pt modelId="{0C93C062-1FA9-4D85-A661-79EEA0203DF4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000" dirty="0">
              <a:latin typeface="Comic Sans MS" panose="030F0702030302020204" pitchFamily="66" charset="0"/>
            </a:rPr>
            <a:t>- Engineering </a:t>
          </a:r>
          <a:r>
            <a:rPr lang="en-US" sz="1000" dirty="0" err="1">
              <a:latin typeface="Comic Sans MS" panose="030F0702030302020204" pitchFamily="66" charset="0"/>
            </a:rPr>
            <a:t>senang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karena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tidak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ada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lagi</a:t>
          </a:r>
          <a:r>
            <a:rPr lang="en-US" sz="1000" dirty="0">
              <a:latin typeface="Comic Sans MS" panose="030F0702030302020204" pitchFamily="66" charset="0"/>
            </a:rPr>
            <a:t> RMA</a:t>
          </a:r>
        </a:p>
        <a:p>
          <a:r>
            <a:rPr lang="en-US" sz="1000" dirty="0">
              <a:latin typeface="Comic Sans MS" panose="030F0702030302020204" pitchFamily="66" charset="0"/>
            </a:rPr>
            <a:t>- Supervisor Prod </a:t>
          </a:r>
          <a:r>
            <a:rPr lang="en-US" sz="1000" dirty="0" err="1">
              <a:latin typeface="Comic Sans MS" panose="030F0702030302020204" pitchFamily="66" charset="0"/>
            </a:rPr>
            <a:t>Sangat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terbantu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karena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mempercepat</a:t>
          </a:r>
          <a:r>
            <a:rPr lang="en-US" sz="1000" dirty="0">
              <a:latin typeface="Comic Sans MS" panose="030F0702030302020204" pitchFamily="66" charset="0"/>
            </a:rPr>
            <a:t> proses</a:t>
          </a:r>
        </a:p>
        <a:p>
          <a:r>
            <a:rPr lang="en-US" sz="1000" dirty="0">
              <a:latin typeface="Comic Sans MS" panose="030F0702030302020204" pitchFamily="66" charset="0"/>
            </a:rPr>
            <a:t>- CSR </a:t>
          </a:r>
          <a:r>
            <a:rPr lang="en-US" sz="1000" dirty="0" err="1">
              <a:latin typeface="Comic Sans MS" panose="030F0702030302020204" pitchFamily="66" charset="0"/>
            </a:rPr>
            <a:t>ikut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gembira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karena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tidak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ada</a:t>
          </a:r>
          <a:r>
            <a:rPr lang="en-US" sz="1000" dirty="0">
              <a:latin typeface="Comic Sans MS" panose="030F0702030302020204" pitchFamily="66" charset="0"/>
            </a:rPr>
            <a:t> feedback</a:t>
          </a:r>
        </a:p>
        <a:p>
          <a:r>
            <a:rPr lang="en-US" sz="1000" dirty="0">
              <a:latin typeface="Comic Sans MS" panose="030F0702030302020204" pitchFamily="66" charset="0"/>
            </a:rPr>
            <a:t>- Planner </a:t>
          </a:r>
          <a:r>
            <a:rPr lang="en-US" sz="1000" dirty="0" err="1">
              <a:latin typeface="Comic Sans MS" panose="030F0702030302020204" pitchFamily="66" charset="0"/>
            </a:rPr>
            <a:t>Setuju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karena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pengiriman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tepat</a:t>
          </a:r>
          <a:r>
            <a:rPr lang="en-US" sz="1000" dirty="0">
              <a:latin typeface="Comic Sans MS" panose="030F0702030302020204" pitchFamily="66" charset="0"/>
            </a:rPr>
            <a:t> </a:t>
          </a:r>
          <a:r>
            <a:rPr lang="en-US" sz="1000" dirty="0" err="1">
              <a:latin typeface="Comic Sans MS" panose="030F0702030302020204" pitchFamily="66" charset="0"/>
            </a:rPr>
            <a:t>waktu</a:t>
          </a:r>
          <a:endParaRPr lang="en-US" sz="1000" dirty="0">
            <a:latin typeface="Comic Sans MS" panose="030F0702030302020204" pitchFamily="66" charset="0"/>
          </a:endParaRPr>
        </a:p>
      </dgm:t>
    </dgm:pt>
    <dgm:pt modelId="{3C762240-9107-4BDD-990F-B432DD3ACF11}" type="parTrans" cxnId="{D71B2BC8-F25F-4F9B-B1F0-FA713D1E8F31}">
      <dgm:prSet/>
      <dgm:spPr/>
      <dgm:t>
        <a:bodyPr/>
        <a:lstStyle/>
        <a:p>
          <a:endParaRPr lang="en-US"/>
        </a:p>
      </dgm:t>
    </dgm:pt>
    <dgm:pt modelId="{1325BE85-4DA5-41E9-B126-8BA1C451D5EF}" type="sibTrans" cxnId="{D71B2BC8-F25F-4F9B-B1F0-FA713D1E8F31}">
      <dgm:prSet/>
      <dgm:spPr/>
      <dgm:t>
        <a:bodyPr/>
        <a:lstStyle/>
        <a:p>
          <a:endParaRPr lang="en-US"/>
        </a:p>
      </dgm:t>
    </dgm:pt>
    <dgm:pt modelId="{A0A00D1E-EA6A-4151-884E-91DA41D83A32}" type="pres">
      <dgm:prSet presAssocID="{DEDD602D-D496-41C8-878D-ECB27CA3C87E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13BD9AE2-B251-459D-BAC0-B98CFD716840}" type="pres">
      <dgm:prSet presAssocID="{C20D62B0-2566-4DCF-948E-1FEA0AC9A98A}" presName="parentText1" presStyleLbl="node1" presStyleIdx="0" presStyleCnt="3" custLinFactNeighborY="-1250">
        <dgm:presLayoutVars>
          <dgm:chMax/>
          <dgm:chPref val="3"/>
          <dgm:bulletEnabled val="1"/>
        </dgm:presLayoutVars>
      </dgm:prSet>
      <dgm:spPr/>
    </dgm:pt>
    <dgm:pt modelId="{10CCB9B6-69D6-45C9-92E5-BE098DEFCEEE}" type="pres">
      <dgm:prSet presAssocID="{C20D62B0-2566-4DCF-948E-1FEA0AC9A98A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31DFF8C3-EEBE-4A6B-B731-03C42F367347}" type="pres">
      <dgm:prSet presAssocID="{9DA3B4C5-C56E-456F-BE64-2182D5A77877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75D7824A-EAC1-4304-8BDB-4C81A7A8B064}" type="pres">
      <dgm:prSet presAssocID="{9DA3B4C5-C56E-456F-BE64-2182D5A77877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E5C8B16A-0CF8-442E-B591-EE1BE102AD20}" type="pres">
      <dgm:prSet presAssocID="{95D988FB-DCAA-4F0E-A9D4-4602B2D93791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9CAC7A14-1BC9-4128-B89B-992080151DC6}" type="pres">
      <dgm:prSet presAssocID="{95D988FB-DCAA-4F0E-A9D4-4602B2D93791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85BAB08-E060-4806-BED5-6E546FD36316}" srcId="{DEDD602D-D496-41C8-878D-ECB27CA3C87E}" destId="{9DA3B4C5-C56E-456F-BE64-2182D5A77877}" srcOrd="1" destOrd="0" parTransId="{27F790DE-5DCB-450F-9B35-C666ED0CA445}" sibTransId="{7BAE0F63-D47A-4E03-9A77-07BC7E599479}"/>
    <dgm:cxn modelId="{002B791C-9890-45FE-993E-8DFD6DE2981E}" type="presOf" srcId="{95D988FB-DCAA-4F0E-A9D4-4602B2D93791}" destId="{E5C8B16A-0CF8-442E-B591-EE1BE102AD20}" srcOrd="0" destOrd="0" presId="urn:microsoft.com/office/officeart/2009/3/layout/IncreasingArrowsProcess"/>
    <dgm:cxn modelId="{4CF68575-3DEE-435D-B598-B7BC30C5EEEC}" type="presOf" srcId="{58DEA92A-16ED-4262-ADF8-AE7B30707E23}" destId="{75D7824A-EAC1-4304-8BDB-4C81A7A8B064}" srcOrd="0" destOrd="0" presId="urn:microsoft.com/office/officeart/2009/3/layout/IncreasingArrowsProcess"/>
    <dgm:cxn modelId="{AC90E97E-48CD-4A35-94FC-24421D485F8E}" type="presOf" srcId="{0C93C062-1FA9-4D85-A661-79EEA0203DF4}" destId="{9CAC7A14-1BC9-4128-B89B-992080151DC6}" srcOrd="0" destOrd="0" presId="urn:microsoft.com/office/officeart/2009/3/layout/IncreasingArrowsProcess"/>
    <dgm:cxn modelId="{03072E94-1568-4E68-A76F-4F47AA608899}" type="presOf" srcId="{9DA3B4C5-C56E-456F-BE64-2182D5A77877}" destId="{31DFF8C3-EEBE-4A6B-B731-03C42F367347}" srcOrd="0" destOrd="0" presId="urn:microsoft.com/office/officeart/2009/3/layout/IncreasingArrowsProcess"/>
    <dgm:cxn modelId="{5E170BA2-38F0-4A21-9AD3-94873245785F}" srcId="{C20D62B0-2566-4DCF-948E-1FEA0AC9A98A}" destId="{D5781709-1E1E-486A-8D64-79C76555319D}" srcOrd="0" destOrd="0" parTransId="{C7540555-148C-49FB-BDD5-6A73C79E2713}" sibTransId="{0EE2750C-A488-4490-AB06-783B385CF47D}"/>
    <dgm:cxn modelId="{F27991AD-7740-4544-A809-F58F3F3F38A1}" type="presOf" srcId="{C20D62B0-2566-4DCF-948E-1FEA0AC9A98A}" destId="{13BD9AE2-B251-459D-BAC0-B98CFD716840}" srcOrd="0" destOrd="0" presId="urn:microsoft.com/office/officeart/2009/3/layout/IncreasingArrowsProcess"/>
    <dgm:cxn modelId="{D71B2BC8-F25F-4F9B-B1F0-FA713D1E8F31}" srcId="{95D988FB-DCAA-4F0E-A9D4-4602B2D93791}" destId="{0C93C062-1FA9-4D85-A661-79EEA0203DF4}" srcOrd="0" destOrd="0" parTransId="{3C762240-9107-4BDD-990F-B432DD3ACF11}" sibTransId="{1325BE85-4DA5-41E9-B126-8BA1C451D5EF}"/>
    <dgm:cxn modelId="{9E7B5BCB-B3FC-4E05-90CA-274295971A22}" srcId="{9DA3B4C5-C56E-456F-BE64-2182D5A77877}" destId="{58DEA92A-16ED-4262-ADF8-AE7B30707E23}" srcOrd="0" destOrd="0" parTransId="{96EFE065-323A-49FE-8FAC-B8998901A252}" sibTransId="{A6781664-52A3-4648-96D1-F4C39E893AFF}"/>
    <dgm:cxn modelId="{FB80BBD1-543D-43B9-A5FB-A2595DDB413A}" type="presOf" srcId="{D5781709-1E1E-486A-8D64-79C76555319D}" destId="{10CCB9B6-69D6-45C9-92E5-BE098DEFCEEE}" srcOrd="0" destOrd="0" presId="urn:microsoft.com/office/officeart/2009/3/layout/IncreasingArrowsProcess"/>
    <dgm:cxn modelId="{8520EFE7-7044-4E77-B0E0-89E880AB5722}" type="presOf" srcId="{DEDD602D-D496-41C8-878D-ECB27CA3C87E}" destId="{A0A00D1E-EA6A-4151-884E-91DA41D83A32}" srcOrd="0" destOrd="0" presId="urn:microsoft.com/office/officeart/2009/3/layout/IncreasingArrowsProcess"/>
    <dgm:cxn modelId="{DDF135FD-D0F3-48DD-A770-8BBDBA1B9BA7}" srcId="{DEDD602D-D496-41C8-878D-ECB27CA3C87E}" destId="{95D988FB-DCAA-4F0E-A9D4-4602B2D93791}" srcOrd="2" destOrd="0" parTransId="{270C34B7-F97A-4D71-A4A4-02692218924F}" sibTransId="{0218C361-11FE-4343-B73D-16F55B404C12}"/>
    <dgm:cxn modelId="{3EB00EFE-2675-4455-BA3F-E76C287443FE}" srcId="{DEDD602D-D496-41C8-878D-ECB27CA3C87E}" destId="{C20D62B0-2566-4DCF-948E-1FEA0AC9A98A}" srcOrd="0" destOrd="0" parTransId="{DE38A7DA-D586-48A5-B36D-01B917F8E6D9}" sibTransId="{612AC17F-7EDE-4BD1-8687-0224534D71CA}"/>
    <dgm:cxn modelId="{BA44A47D-2EA0-4F7F-B1D9-C402C288CD08}" type="presParOf" srcId="{A0A00D1E-EA6A-4151-884E-91DA41D83A32}" destId="{13BD9AE2-B251-459D-BAC0-B98CFD716840}" srcOrd="0" destOrd="0" presId="urn:microsoft.com/office/officeart/2009/3/layout/IncreasingArrowsProcess"/>
    <dgm:cxn modelId="{67FC1571-B202-4636-931E-3DC80B9F7F79}" type="presParOf" srcId="{A0A00D1E-EA6A-4151-884E-91DA41D83A32}" destId="{10CCB9B6-69D6-45C9-92E5-BE098DEFCEEE}" srcOrd="1" destOrd="0" presId="urn:microsoft.com/office/officeart/2009/3/layout/IncreasingArrowsProcess"/>
    <dgm:cxn modelId="{393C89F9-FAF3-4911-A9FE-77B4BEACFB56}" type="presParOf" srcId="{A0A00D1E-EA6A-4151-884E-91DA41D83A32}" destId="{31DFF8C3-EEBE-4A6B-B731-03C42F367347}" srcOrd="2" destOrd="0" presId="urn:microsoft.com/office/officeart/2009/3/layout/IncreasingArrowsProcess"/>
    <dgm:cxn modelId="{86B7737F-4093-4053-AA94-7F0EE981721E}" type="presParOf" srcId="{A0A00D1E-EA6A-4151-884E-91DA41D83A32}" destId="{75D7824A-EAC1-4304-8BDB-4C81A7A8B064}" srcOrd="3" destOrd="0" presId="urn:microsoft.com/office/officeart/2009/3/layout/IncreasingArrowsProcess"/>
    <dgm:cxn modelId="{E62DDD1D-8303-4FED-8073-A86901F4710B}" type="presParOf" srcId="{A0A00D1E-EA6A-4151-884E-91DA41D83A32}" destId="{E5C8B16A-0CF8-442E-B591-EE1BE102AD20}" srcOrd="4" destOrd="0" presId="urn:microsoft.com/office/officeart/2009/3/layout/IncreasingArrowsProcess"/>
    <dgm:cxn modelId="{F0847F49-7830-45A0-8B23-5B878988074E}" type="presParOf" srcId="{A0A00D1E-EA6A-4151-884E-91DA41D83A32}" destId="{9CAC7A14-1BC9-4128-B89B-992080151DC6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EE046F-F12E-4CE2-99FD-C9BBA9A845CE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E7DEAEE3-3C10-46AF-BDA8-649332FE5601}">
      <dgm:prSet phldrT="[Text]" custT="1"/>
      <dgm:spPr>
        <a:solidFill>
          <a:srgbClr val="CF3DB0"/>
        </a:solidFill>
      </dgm:spPr>
      <dgm:t>
        <a:bodyPr/>
        <a:lstStyle/>
        <a:p>
          <a:r>
            <a:rPr lang="en-US" sz="900" dirty="0"/>
            <a:t>Champion</a:t>
          </a:r>
        </a:p>
        <a:p>
          <a:r>
            <a:rPr lang="en-US" sz="900" dirty="0"/>
            <a:t>Nova Apriani</a:t>
          </a:r>
        </a:p>
      </dgm:t>
    </dgm:pt>
    <dgm:pt modelId="{6FFAEBEF-2166-4659-897C-957B1139B0F1}" type="parTrans" cxnId="{563AEC4E-8760-4544-8D27-ACC1C2271356}">
      <dgm:prSet/>
      <dgm:spPr/>
      <dgm:t>
        <a:bodyPr/>
        <a:lstStyle/>
        <a:p>
          <a:endParaRPr lang="en-US"/>
        </a:p>
      </dgm:t>
    </dgm:pt>
    <dgm:pt modelId="{9F8927BB-45AB-4ECD-B53B-504EA0341192}" type="sibTrans" cxnId="{563AEC4E-8760-4544-8D27-ACC1C2271356}">
      <dgm:prSet/>
      <dgm:spPr/>
      <dgm:t>
        <a:bodyPr/>
        <a:lstStyle/>
        <a:p>
          <a:endParaRPr lang="en-US"/>
        </a:p>
      </dgm:t>
    </dgm:pt>
    <dgm:pt modelId="{EFFF3AE9-C9ED-4BA4-8A3F-465A3BC5B574}">
      <dgm:prSet phldrT="[Text]" custT="1"/>
      <dgm:spPr>
        <a:solidFill>
          <a:srgbClr val="CF3DB0"/>
        </a:solidFill>
      </dgm:spPr>
      <dgm:t>
        <a:bodyPr/>
        <a:lstStyle/>
        <a:p>
          <a:r>
            <a:rPr lang="en-US" sz="900" dirty="0"/>
            <a:t>Leader</a:t>
          </a:r>
        </a:p>
        <a:p>
          <a:r>
            <a:rPr lang="en-US" sz="900" dirty="0" err="1"/>
            <a:t>Nurul</a:t>
          </a:r>
          <a:r>
            <a:rPr lang="en-US" sz="900" dirty="0"/>
            <a:t> R</a:t>
          </a:r>
        </a:p>
      </dgm:t>
    </dgm:pt>
    <dgm:pt modelId="{6E411674-38A0-4C64-A09C-470C1540040B}" type="parTrans" cxnId="{EA85B4AE-D692-4943-90E1-2B3BFFBCEDF9}">
      <dgm:prSet/>
      <dgm:spPr/>
      <dgm:t>
        <a:bodyPr/>
        <a:lstStyle/>
        <a:p>
          <a:endParaRPr lang="en-US"/>
        </a:p>
      </dgm:t>
    </dgm:pt>
    <dgm:pt modelId="{A77A5313-0119-435D-9F86-4B464DC826A8}" type="sibTrans" cxnId="{EA85B4AE-D692-4943-90E1-2B3BFFBCEDF9}">
      <dgm:prSet/>
      <dgm:spPr/>
      <dgm:t>
        <a:bodyPr/>
        <a:lstStyle/>
        <a:p>
          <a:endParaRPr lang="en-US"/>
        </a:p>
      </dgm:t>
    </dgm:pt>
    <dgm:pt modelId="{209D4F0D-4B97-4C83-B22B-227A91FFC726}">
      <dgm:prSet phldrT="[Text]" custT="1"/>
      <dgm:spPr>
        <a:solidFill>
          <a:srgbClr val="CF3DB0"/>
        </a:solidFill>
      </dgm:spPr>
      <dgm:t>
        <a:bodyPr/>
        <a:lstStyle/>
        <a:p>
          <a:r>
            <a:rPr lang="en-US" sz="900" dirty="0"/>
            <a:t>Member</a:t>
          </a:r>
        </a:p>
        <a:p>
          <a:r>
            <a:rPr lang="en-US" sz="900" dirty="0"/>
            <a:t>Martha N</a:t>
          </a:r>
        </a:p>
      </dgm:t>
    </dgm:pt>
    <dgm:pt modelId="{B8B01B9A-54E2-49BC-A8C1-36A01FB41ACB}" type="parTrans" cxnId="{48E6031C-8E8E-4B7D-9340-F3CC5C97A7C9}">
      <dgm:prSet/>
      <dgm:spPr/>
      <dgm:t>
        <a:bodyPr/>
        <a:lstStyle/>
        <a:p>
          <a:endParaRPr lang="en-US"/>
        </a:p>
      </dgm:t>
    </dgm:pt>
    <dgm:pt modelId="{54A3C575-CD6A-4F0C-9FC4-DB70233122BD}" type="sibTrans" cxnId="{48E6031C-8E8E-4B7D-9340-F3CC5C97A7C9}">
      <dgm:prSet/>
      <dgm:spPr/>
      <dgm:t>
        <a:bodyPr/>
        <a:lstStyle/>
        <a:p>
          <a:endParaRPr lang="en-US"/>
        </a:p>
      </dgm:t>
    </dgm:pt>
    <dgm:pt modelId="{08D0CB4E-E9A2-4FFB-8369-77937C40BB11}">
      <dgm:prSet phldrT="[Text]" custT="1"/>
      <dgm:spPr>
        <a:solidFill>
          <a:srgbClr val="CF3DB0"/>
        </a:solidFill>
      </dgm:spPr>
      <dgm:t>
        <a:bodyPr/>
        <a:lstStyle/>
        <a:p>
          <a:r>
            <a:rPr lang="en-US" sz="900" dirty="0"/>
            <a:t>Member</a:t>
          </a:r>
        </a:p>
        <a:p>
          <a:r>
            <a:rPr lang="en-US" sz="900" dirty="0"/>
            <a:t>Vani K</a:t>
          </a:r>
        </a:p>
      </dgm:t>
    </dgm:pt>
    <dgm:pt modelId="{0DA350FA-B5C4-4D6C-9FB6-C2AE8F18FA0F}" type="parTrans" cxnId="{EEDD6074-F0DF-4202-844A-9CECB4EFD38E}">
      <dgm:prSet/>
      <dgm:spPr/>
      <dgm:t>
        <a:bodyPr/>
        <a:lstStyle/>
        <a:p>
          <a:endParaRPr lang="en-US"/>
        </a:p>
      </dgm:t>
    </dgm:pt>
    <dgm:pt modelId="{9DA88EF0-7EF6-4E2F-988D-C6270F57785A}" type="sibTrans" cxnId="{EEDD6074-F0DF-4202-844A-9CECB4EFD38E}">
      <dgm:prSet/>
      <dgm:spPr/>
      <dgm:t>
        <a:bodyPr/>
        <a:lstStyle/>
        <a:p>
          <a:endParaRPr lang="en-US"/>
        </a:p>
      </dgm:t>
    </dgm:pt>
    <dgm:pt modelId="{FE4DC899-C980-4721-B89B-3183ED5A116C}">
      <dgm:prSet phldrT="[Text]" custT="1"/>
      <dgm:spPr>
        <a:solidFill>
          <a:srgbClr val="CF3DB0"/>
        </a:solidFill>
      </dgm:spPr>
      <dgm:t>
        <a:bodyPr/>
        <a:lstStyle/>
        <a:p>
          <a:r>
            <a:rPr lang="en-US" sz="900" dirty="0"/>
            <a:t>Member</a:t>
          </a:r>
        </a:p>
        <a:p>
          <a:r>
            <a:rPr lang="en-US" sz="900" dirty="0" err="1"/>
            <a:t>Andhika</a:t>
          </a:r>
          <a:endParaRPr lang="en-US" sz="900" dirty="0"/>
        </a:p>
      </dgm:t>
    </dgm:pt>
    <dgm:pt modelId="{CFD3D654-9449-4B97-B8F1-CAD0291F779A}" type="parTrans" cxnId="{F74B6C52-CD2A-4188-9B1D-E1BFF828C888}">
      <dgm:prSet/>
      <dgm:spPr/>
      <dgm:t>
        <a:bodyPr/>
        <a:lstStyle/>
        <a:p>
          <a:endParaRPr lang="en-US"/>
        </a:p>
      </dgm:t>
    </dgm:pt>
    <dgm:pt modelId="{A7C08721-BF08-41D6-A9CB-0C602B991BD6}" type="sibTrans" cxnId="{F74B6C52-CD2A-4188-9B1D-E1BFF828C888}">
      <dgm:prSet/>
      <dgm:spPr/>
      <dgm:t>
        <a:bodyPr/>
        <a:lstStyle/>
        <a:p>
          <a:endParaRPr lang="en-US"/>
        </a:p>
      </dgm:t>
    </dgm:pt>
    <dgm:pt modelId="{FB81099F-260A-419D-BC5E-C682C4A26AA5}" type="pres">
      <dgm:prSet presAssocID="{7EEE046F-F12E-4CE2-99FD-C9BBA9A845CE}" presName="Name0" presStyleCnt="0">
        <dgm:presLayoutVars>
          <dgm:dir/>
          <dgm:resizeHandles val="exact"/>
        </dgm:presLayoutVars>
      </dgm:prSet>
      <dgm:spPr/>
    </dgm:pt>
    <dgm:pt modelId="{0A7C6475-37F4-4A1B-A7B9-27EA6DD4E896}" type="pres">
      <dgm:prSet presAssocID="{7EEE046F-F12E-4CE2-99FD-C9BBA9A845CE}" presName="bkgdShp" presStyleLbl="alignAccFollowNode1" presStyleIdx="0" presStyleCnt="1"/>
      <dgm:spPr/>
    </dgm:pt>
    <dgm:pt modelId="{E49B8F15-5D3F-49E2-97F3-C5738E2F7D63}" type="pres">
      <dgm:prSet presAssocID="{7EEE046F-F12E-4CE2-99FD-C9BBA9A845CE}" presName="linComp" presStyleCnt="0"/>
      <dgm:spPr/>
    </dgm:pt>
    <dgm:pt modelId="{49F2AAE0-1F6F-4B83-BB54-DCD02029BEDC}" type="pres">
      <dgm:prSet presAssocID="{E7DEAEE3-3C10-46AF-BDA8-649332FE5601}" presName="compNode" presStyleCnt="0"/>
      <dgm:spPr/>
    </dgm:pt>
    <dgm:pt modelId="{AE9080C7-86F8-4EF0-AB2A-A2B262B99403}" type="pres">
      <dgm:prSet presAssocID="{E7DEAEE3-3C10-46AF-BDA8-649332FE5601}" presName="node" presStyleLbl="node1" presStyleIdx="0" presStyleCnt="5" custScaleY="45509">
        <dgm:presLayoutVars>
          <dgm:bulletEnabled val="1"/>
        </dgm:presLayoutVars>
      </dgm:prSet>
      <dgm:spPr/>
    </dgm:pt>
    <dgm:pt modelId="{587EA6BF-E7DA-4513-B63E-46648C22F4FE}" type="pres">
      <dgm:prSet presAssocID="{E7DEAEE3-3C10-46AF-BDA8-649332FE5601}" presName="invisiNode" presStyleLbl="node1" presStyleIdx="0" presStyleCnt="5"/>
      <dgm:spPr/>
    </dgm:pt>
    <dgm:pt modelId="{E63DC31A-DBB5-4783-8D1C-A17638B66641}" type="pres">
      <dgm:prSet presAssocID="{E7DEAEE3-3C10-46AF-BDA8-649332FE5601}" presName="imagNode" presStyleLbl="fgImgPlace1" presStyleIdx="0" presStyleCnt="5" custScaleX="64324" custScaleY="160275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C607C16-0700-46ED-A65C-24E7E9B34E47}" type="pres">
      <dgm:prSet presAssocID="{9F8927BB-45AB-4ECD-B53B-504EA0341192}" presName="sibTrans" presStyleLbl="sibTrans2D1" presStyleIdx="0" presStyleCnt="0"/>
      <dgm:spPr/>
    </dgm:pt>
    <dgm:pt modelId="{74DE5C41-159B-4A94-87C0-5E03FC80473F}" type="pres">
      <dgm:prSet presAssocID="{EFFF3AE9-C9ED-4BA4-8A3F-465A3BC5B574}" presName="compNode" presStyleCnt="0"/>
      <dgm:spPr/>
    </dgm:pt>
    <dgm:pt modelId="{19796AB7-6A7B-4FCE-8152-72497BA76A46}" type="pres">
      <dgm:prSet presAssocID="{EFFF3AE9-C9ED-4BA4-8A3F-465A3BC5B574}" presName="node" presStyleLbl="node1" presStyleIdx="1" presStyleCnt="5" custScaleY="45509">
        <dgm:presLayoutVars>
          <dgm:bulletEnabled val="1"/>
        </dgm:presLayoutVars>
      </dgm:prSet>
      <dgm:spPr/>
    </dgm:pt>
    <dgm:pt modelId="{CC00051C-1572-467F-8CF7-3BE3E4ADDAC1}" type="pres">
      <dgm:prSet presAssocID="{EFFF3AE9-C9ED-4BA4-8A3F-465A3BC5B574}" presName="invisiNode" presStyleLbl="node1" presStyleIdx="1" presStyleCnt="5"/>
      <dgm:spPr/>
    </dgm:pt>
    <dgm:pt modelId="{DA867FD9-D092-4AC2-A090-5BA7A4AEE2D1}" type="pres">
      <dgm:prSet presAssocID="{EFFF3AE9-C9ED-4BA4-8A3F-465A3BC5B574}" presName="imagNode" presStyleLbl="fgImgPlace1" presStyleIdx="1" presStyleCnt="5" custAng="5400000" custScaleX="96408" custScaleY="127047" custLinFactNeighborY="-2052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BD5F93E-7B2E-45D1-9397-FFE19C53FCA6}" type="pres">
      <dgm:prSet presAssocID="{A77A5313-0119-435D-9F86-4B464DC826A8}" presName="sibTrans" presStyleLbl="sibTrans2D1" presStyleIdx="0" presStyleCnt="0"/>
      <dgm:spPr/>
    </dgm:pt>
    <dgm:pt modelId="{19E7B2B7-84BE-423C-BE7E-933E52CD5D18}" type="pres">
      <dgm:prSet presAssocID="{209D4F0D-4B97-4C83-B22B-227A91FFC726}" presName="compNode" presStyleCnt="0"/>
      <dgm:spPr/>
    </dgm:pt>
    <dgm:pt modelId="{8DC446C7-3DA2-462E-80AD-7BF1FAA4F2C1}" type="pres">
      <dgm:prSet presAssocID="{209D4F0D-4B97-4C83-B22B-227A91FFC726}" presName="node" presStyleLbl="node1" presStyleIdx="2" presStyleCnt="5" custScaleY="45509">
        <dgm:presLayoutVars>
          <dgm:bulletEnabled val="1"/>
        </dgm:presLayoutVars>
      </dgm:prSet>
      <dgm:spPr/>
    </dgm:pt>
    <dgm:pt modelId="{F0D02845-CC9B-46AC-8885-2904255FC4F6}" type="pres">
      <dgm:prSet presAssocID="{209D4F0D-4B97-4C83-B22B-227A91FFC726}" presName="invisiNode" presStyleLbl="node1" presStyleIdx="2" presStyleCnt="5"/>
      <dgm:spPr/>
    </dgm:pt>
    <dgm:pt modelId="{3D1E9FCC-72CA-460B-8403-74F7A801E82E}" type="pres">
      <dgm:prSet presAssocID="{209D4F0D-4B97-4C83-B22B-227A91FFC726}" presName="imagNode" presStyleLbl="fgImgPlace1" presStyleIdx="2" presStyleCnt="5" custScaleX="86911" custScaleY="159994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1213EF0-A79A-49EC-964A-28FAC696E7A2}" type="pres">
      <dgm:prSet presAssocID="{54A3C575-CD6A-4F0C-9FC4-DB70233122BD}" presName="sibTrans" presStyleLbl="sibTrans2D1" presStyleIdx="0" presStyleCnt="0"/>
      <dgm:spPr/>
    </dgm:pt>
    <dgm:pt modelId="{40C3742B-4F13-439D-B27B-E16BF2F197C0}" type="pres">
      <dgm:prSet presAssocID="{08D0CB4E-E9A2-4FFB-8369-77937C40BB11}" presName="compNode" presStyleCnt="0"/>
      <dgm:spPr/>
    </dgm:pt>
    <dgm:pt modelId="{F840B241-32FB-459D-AC3C-31EA7B3E6EB8}" type="pres">
      <dgm:prSet presAssocID="{08D0CB4E-E9A2-4FFB-8369-77937C40BB11}" presName="node" presStyleLbl="node1" presStyleIdx="3" presStyleCnt="5" custScaleY="45509">
        <dgm:presLayoutVars>
          <dgm:bulletEnabled val="1"/>
        </dgm:presLayoutVars>
      </dgm:prSet>
      <dgm:spPr/>
    </dgm:pt>
    <dgm:pt modelId="{B5078CD9-0236-4550-A39F-B0433F75A501}" type="pres">
      <dgm:prSet presAssocID="{08D0CB4E-E9A2-4FFB-8369-77937C40BB11}" presName="invisiNode" presStyleLbl="node1" presStyleIdx="3" presStyleCnt="5"/>
      <dgm:spPr/>
    </dgm:pt>
    <dgm:pt modelId="{06D03FB2-31DB-4C32-B38D-3B7B5D60E974}" type="pres">
      <dgm:prSet presAssocID="{08D0CB4E-E9A2-4FFB-8369-77937C40BB11}" presName="imagNode" presStyleLbl="fgImgPlace1" presStyleIdx="3" presStyleCnt="5" custScaleX="103805" custScaleY="158869"/>
      <dgm:spPr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94F92C7-4FEB-4A00-86A1-EED6816530A9}" type="pres">
      <dgm:prSet presAssocID="{9DA88EF0-7EF6-4E2F-988D-C6270F57785A}" presName="sibTrans" presStyleLbl="sibTrans2D1" presStyleIdx="0" presStyleCnt="0"/>
      <dgm:spPr/>
    </dgm:pt>
    <dgm:pt modelId="{EDD96E89-3B5E-4687-A1DB-2EEFC4AB0948}" type="pres">
      <dgm:prSet presAssocID="{FE4DC899-C980-4721-B89B-3183ED5A116C}" presName="compNode" presStyleCnt="0"/>
      <dgm:spPr/>
    </dgm:pt>
    <dgm:pt modelId="{58D31F98-68BF-4F5E-A35C-F77F62622D24}" type="pres">
      <dgm:prSet presAssocID="{FE4DC899-C980-4721-B89B-3183ED5A116C}" presName="node" presStyleLbl="node1" presStyleIdx="4" presStyleCnt="5" custScaleY="45509">
        <dgm:presLayoutVars>
          <dgm:bulletEnabled val="1"/>
        </dgm:presLayoutVars>
      </dgm:prSet>
      <dgm:spPr/>
    </dgm:pt>
    <dgm:pt modelId="{B10D5D06-62C6-465E-BA43-224BE66BD42C}" type="pres">
      <dgm:prSet presAssocID="{FE4DC899-C980-4721-B89B-3183ED5A116C}" presName="invisiNode" presStyleLbl="node1" presStyleIdx="4" presStyleCnt="5"/>
      <dgm:spPr/>
    </dgm:pt>
    <dgm:pt modelId="{AD4DC729-6476-484F-9F62-803A43D67B06}" type="pres">
      <dgm:prSet presAssocID="{FE4DC899-C980-4721-B89B-3183ED5A116C}" presName="imagNode" presStyleLbl="fgImgPlace1" presStyleIdx="4" presStyleCnt="5" custScaleX="71900" custScaleY="154368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D6D7B908-49FB-4D19-8355-73AD268A676C}" type="presOf" srcId="{9F8927BB-45AB-4ECD-B53B-504EA0341192}" destId="{0C607C16-0700-46ED-A65C-24E7E9B34E47}" srcOrd="0" destOrd="0" presId="urn:microsoft.com/office/officeart/2005/8/layout/pList2"/>
    <dgm:cxn modelId="{41046C1A-A04E-4523-BE29-5E22DDC82B34}" type="presOf" srcId="{54A3C575-CD6A-4F0C-9FC4-DB70233122BD}" destId="{71213EF0-A79A-49EC-964A-28FAC696E7A2}" srcOrd="0" destOrd="0" presId="urn:microsoft.com/office/officeart/2005/8/layout/pList2"/>
    <dgm:cxn modelId="{48E6031C-8E8E-4B7D-9340-F3CC5C97A7C9}" srcId="{7EEE046F-F12E-4CE2-99FD-C9BBA9A845CE}" destId="{209D4F0D-4B97-4C83-B22B-227A91FFC726}" srcOrd="2" destOrd="0" parTransId="{B8B01B9A-54E2-49BC-A8C1-36A01FB41ACB}" sibTransId="{54A3C575-CD6A-4F0C-9FC4-DB70233122BD}"/>
    <dgm:cxn modelId="{BDA8884B-825F-485C-9786-8A9561937070}" type="presOf" srcId="{FE4DC899-C980-4721-B89B-3183ED5A116C}" destId="{58D31F98-68BF-4F5E-A35C-F77F62622D24}" srcOrd="0" destOrd="0" presId="urn:microsoft.com/office/officeart/2005/8/layout/pList2"/>
    <dgm:cxn modelId="{563AEC4E-8760-4544-8D27-ACC1C2271356}" srcId="{7EEE046F-F12E-4CE2-99FD-C9BBA9A845CE}" destId="{E7DEAEE3-3C10-46AF-BDA8-649332FE5601}" srcOrd="0" destOrd="0" parTransId="{6FFAEBEF-2166-4659-897C-957B1139B0F1}" sibTransId="{9F8927BB-45AB-4ECD-B53B-504EA0341192}"/>
    <dgm:cxn modelId="{F74B6C52-CD2A-4188-9B1D-E1BFF828C888}" srcId="{7EEE046F-F12E-4CE2-99FD-C9BBA9A845CE}" destId="{FE4DC899-C980-4721-B89B-3183ED5A116C}" srcOrd="4" destOrd="0" parTransId="{CFD3D654-9449-4B97-B8F1-CAD0291F779A}" sibTransId="{A7C08721-BF08-41D6-A9CB-0C602B991BD6}"/>
    <dgm:cxn modelId="{DF521573-2FF3-45E7-8AE2-DD518B812051}" type="presOf" srcId="{E7DEAEE3-3C10-46AF-BDA8-649332FE5601}" destId="{AE9080C7-86F8-4EF0-AB2A-A2B262B99403}" srcOrd="0" destOrd="0" presId="urn:microsoft.com/office/officeart/2005/8/layout/pList2"/>
    <dgm:cxn modelId="{EEDD6074-F0DF-4202-844A-9CECB4EFD38E}" srcId="{7EEE046F-F12E-4CE2-99FD-C9BBA9A845CE}" destId="{08D0CB4E-E9A2-4FFB-8369-77937C40BB11}" srcOrd="3" destOrd="0" parTransId="{0DA350FA-B5C4-4D6C-9FB6-C2AE8F18FA0F}" sibTransId="{9DA88EF0-7EF6-4E2F-988D-C6270F57785A}"/>
    <dgm:cxn modelId="{8A5F047B-7EB5-4D7C-B995-0AC27DC88EF4}" type="presOf" srcId="{7EEE046F-F12E-4CE2-99FD-C9BBA9A845CE}" destId="{FB81099F-260A-419D-BC5E-C682C4A26AA5}" srcOrd="0" destOrd="0" presId="urn:microsoft.com/office/officeart/2005/8/layout/pList2"/>
    <dgm:cxn modelId="{5CD2307C-72FE-4DC4-882F-514147F54A6A}" type="presOf" srcId="{EFFF3AE9-C9ED-4BA4-8A3F-465A3BC5B574}" destId="{19796AB7-6A7B-4FCE-8152-72497BA76A46}" srcOrd="0" destOrd="0" presId="urn:microsoft.com/office/officeart/2005/8/layout/pList2"/>
    <dgm:cxn modelId="{1852A087-8FDD-4321-937F-17F58A9B3A99}" type="presOf" srcId="{A77A5313-0119-435D-9F86-4B464DC826A8}" destId="{9BD5F93E-7B2E-45D1-9397-FFE19C53FCA6}" srcOrd="0" destOrd="0" presId="urn:microsoft.com/office/officeart/2005/8/layout/pList2"/>
    <dgm:cxn modelId="{4029EB9C-35BD-4B47-BA83-DD61956E43BC}" type="presOf" srcId="{209D4F0D-4B97-4C83-B22B-227A91FFC726}" destId="{8DC446C7-3DA2-462E-80AD-7BF1FAA4F2C1}" srcOrd="0" destOrd="0" presId="urn:microsoft.com/office/officeart/2005/8/layout/pList2"/>
    <dgm:cxn modelId="{A2F5CCA4-5BF0-4095-AB9E-3A5FC77F5434}" type="presOf" srcId="{9DA88EF0-7EF6-4E2F-988D-C6270F57785A}" destId="{094F92C7-4FEB-4A00-86A1-EED6816530A9}" srcOrd="0" destOrd="0" presId="urn:microsoft.com/office/officeart/2005/8/layout/pList2"/>
    <dgm:cxn modelId="{EA85B4AE-D692-4943-90E1-2B3BFFBCEDF9}" srcId="{7EEE046F-F12E-4CE2-99FD-C9BBA9A845CE}" destId="{EFFF3AE9-C9ED-4BA4-8A3F-465A3BC5B574}" srcOrd="1" destOrd="0" parTransId="{6E411674-38A0-4C64-A09C-470C1540040B}" sibTransId="{A77A5313-0119-435D-9F86-4B464DC826A8}"/>
    <dgm:cxn modelId="{687572CB-524A-4821-B09C-6FA5509F85CE}" type="presOf" srcId="{08D0CB4E-E9A2-4FFB-8369-77937C40BB11}" destId="{F840B241-32FB-459D-AC3C-31EA7B3E6EB8}" srcOrd="0" destOrd="0" presId="urn:microsoft.com/office/officeart/2005/8/layout/pList2"/>
    <dgm:cxn modelId="{BC70B0C3-6F48-4DD6-BA57-4D2AA85141DD}" type="presParOf" srcId="{FB81099F-260A-419D-BC5E-C682C4A26AA5}" destId="{0A7C6475-37F4-4A1B-A7B9-27EA6DD4E896}" srcOrd="0" destOrd="0" presId="urn:microsoft.com/office/officeart/2005/8/layout/pList2"/>
    <dgm:cxn modelId="{938099B4-5769-4861-9986-5430F34D2413}" type="presParOf" srcId="{FB81099F-260A-419D-BC5E-C682C4A26AA5}" destId="{E49B8F15-5D3F-49E2-97F3-C5738E2F7D63}" srcOrd="1" destOrd="0" presId="urn:microsoft.com/office/officeart/2005/8/layout/pList2"/>
    <dgm:cxn modelId="{81499994-7557-402D-8DCF-CF3BB7F1EBDF}" type="presParOf" srcId="{E49B8F15-5D3F-49E2-97F3-C5738E2F7D63}" destId="{49F2AAE0-1F6F-4B83-BB54-DCD02029BEDC}" srcOrd="0" destOrd="0" presId="urn:microsoft.com/office/officeart/2005/8/layout/pList2"/>
    <dgm:cxn modelId="{AAEDCE54-D5BE-42E3-9364-A991CBBEE051}" type="presParOf" srcId="{49F2AAE0-1F6F-4B83-BB54-DCD02029BEDC}" destId="{AE9080C7-86F8-4EF0-AB2A-A2B262B99403}" srcOrd="0" destOrd="0" presId="urn:microsoft.com/office/officeart/2005/8/layout/pList2"/>
    <dgm:cxn modelId="{5958FB69-9D0E-46BC-8198-4B4DC6E4346B}" type="presParOf" srcId="{49F2AAE0-1F6F-4B83-BB54-DCD02029BEDC}" destId="{587EA6BF-E7DA-4513-B63E-46648C22F4FE}" srcOrd="1" destOrd="0" presId="urn:microsoft.com/office/officeart/2005/8/layout/pList2"/>
    <dgm:cxn modelId="{671F0727-92D9-4378-A2AB-211D3F3862D8}" type="presParOf" srcId="{49F2AAE0-1F6F-4B83-BB54-DCD02029BEDC}" destId="{E63DC31A-DBB5-4783-8D1C-A17638B66641}" srcOrd="2" destOrd="0" presId="urn:microsoft.com/office/officeart/2005/8/layout/pList2"/>
    <dgm:cxn modelId="{FCF2D514-0A87-4662-9179-2FE54AFBED22}" type="presParOf" srcId="{E49B8F15-5D3F-49E2-97F3-C5738E2F7D63}" destId="{0C607C16-0700-46ED-A65C-24E7E9B34E47}" srcOrd="1" destOrd="0" presId="urn:microsoft.com/office/officeart/2005/8/layout/pList2"/>
    <dgm:cxn modelId="{AE18111E-DD37-41C0-88DE-9F834162D072}" type="presParOf" srcId="{E49B8F15-5D3F-49E2-97F3-C5738E2F7D63}" destId="{74DE5C41-159B-4A94-87C0-5E03FC80473F}" srcOrd="2" destOrd="0" presId="urn:microsoft.com/office/officeart/2005/8/layout/pList2"/>
    <dgm:cxn modelId="{186400D2-69F2-49C3-9ACC-C634309C65AA}" type="presParOf" srcId="{74DE5C41-159B-4A94-87C0-5E03FC80473F}" destId="{19796AB7-6A7B-4FCE-8152-72497BA76A46}" srcOrd="0" destOrd="0" presId="urn:microsoft.com/office/officeart/2005/8/layout/pList2"/>
    <dgm:cxn modelId="{56F8EBA6-4111-47CF-82B5-92B9B0681017}" type="presParOf" srcId="{74DE5C41-159B-4A94-87C0-5E03FC80473F}" destId="{CC00051C-1572-467F-8CF7-3BE3E4ADDAC1}" srcOrd="1" destOrd="0" presId="urn:microsoft.com/office/officeart/2005/8/layout/pList2"/>
    <dgm:cxn modelId="{3A7FE0A1-661D-4366-97A0-000CADE342C5}" type="presParOf" srcId="{74DE5C41-159B-4A94-87C0-5E03FC80473F}" destId="{DA867FD9-D092-4AC2-A090-5BA7A4AEE2D1}" srcOrd="2" destOrd="0" presId="urn:microsoft.com/office/officeart/2005/8/layout/pList2"/>
    <dgm:cxn modelId="{10EA0713-63C7-47B3-A4FE-922CC5BBCC21}" type="presParOf" srcId="{E49B8F15-5D3F-49E2-97F3-C5738E2F7D63}" destId="{9BD5F93E-7B2E-45D1-9397-FFE19C53FCA6}" srcOrd="3" destOrd="0" presId="urn:microsoft.com/office/officeart/2005/8/layout/pList2"/>
    <dgm:cxn modelId="{F97D932C-63E1-452C-B598-B33DD668310D}" type="presParOf" srcId="{E49B8F15-5D3F-49E2-97F3-C5738E2F7D63}" destId="{19E7B2B7-84BE-423C-BE7E-933E52CD5D18}" srcOrd="4" destOrd="0" presId="urn:microsoft.com/office/officeart/2005/8/layout/pList2"/>
    <dgm:cxn modelId="{AEECB996-A2FF-4EF2-9849-BD57F2B47836}" type="presParOf" srcId="{19E7B2B7-84BE-423C-BE7E-933E52CD5D18}" destId="{8DC446C7-3DA2-462E-80AD-7BF1FAA4F2C1}" srcOrd="0" destOrd="0" presId="urn:microsoft.com/office/officeart/2005/8/layout/pList2"/>
    <dgm:cxn modelId="{AD6CAFA8-09BC-4A26-84ED-0D79E6C990B0}" type="presParOf" srcId="{19E7B2B7-84BE-423C-BE7E-933E52CD5D18}" destId="{F0D02845-CC9B-46AC-8885-2904255FC4F6}" srcOrd="1" destOrd="0" presId="urn:microsoft.com/office/officeart/2005/8/layout/pList2"/>
    <dgm:cxn modelId="{D4CFCE8E-23DC-4569-AD9B-555864195364}" type="presParOf" srcId="{19E7B2B7-84BE-423C-BE7E-933E52CD5D18}" destId="{3D1E9FCC-72CA-460B-8403-74F7A801E82E}" srcOrd="2" destOrd="0" presId="urn:microsoft.com/office/officeart/2005/8/layout/pList2"/>
    <dgm:cxn modelId="{89B7A592-7337-4833-839B-A7768925ECF9}" type="presParOf" srcId="{E49B8F15-5D3F-49E2-97F3-C5738E2F7D63}" destId="{71213EF0-A79A-49EC-964A-28FAC696E7A2}" srcOrd="5" destOrd="0" presId="urn:microsoft.com/office/officeart/2005/8/layout/pList2"/>
    <dgm:cxn modelId="{A22D3493-2746-4CC3-B244-506CBEA1D782}" type="presParOf" srcId="{E49B8F15-5D3F-49E2-97F3-C5738E2F7D63}" destId="{40C3742B-4F13-439D-B27B-E16BF2F197C0}" srcOrd="6" destOrd="0" presId="urn:microsoft.com/office/officeart/2005/8/layout/pList2"/>
    <dgm:cxn modelId="{330BA72A-7663-43C7-AB21-62540711E157}" type="presParOf" srcId="{40C3742B-4F13-439D-B27B-E16BF2F197C0}" destId="{F840B241-32FB-459D-AC3C-31EA7B3E6EB8}" srcOrd="0" destOrd="0" presId="urn:microsoft.com/office/officeart/2005/8/layout/pList2"/>
    <dgm:cxn modelId="{95BAF0DA-A55F-407C-9CD4-1E18987BC307}" type="presParOf" srcId="{40C3742B-4F13-439D-B27B-E16BF2F197C0}" destId="{B5078CD9-0236-4550-A39F-B0433F75A501}" srcOrd="1" destOrd="0" presId="urn:microsoft.com/office/officeart/2005/8/layout/pList2"/>
    <dgm:cxn modelId="{0F6E6911-EAF5-4079-9D42-F6C3FC80DCCF}" type="presParOf" srcId="{40C3742B-4F13-439D-B27B-E16BF2F197C0}" destId="{06D03FB2-31DB-4C32-B38D-3B7B5D60E974}" srcOrd="2" destOrd="0" presId="urn:microsoft.com/office/officeart/2005/8/layout/pList2"/>
    <dgm:cxn modelId="{60245F97-D925-46F5-91C5-4F40A5DB7AA9}" type="presParOf" srcId="{E49B8F15-5D3F-49E2-97F3-C5738E2F7D63}" destId="{094F92C7-4FEB-4A00-86A1-EED6816530A9}" srcOrd="7" destOrd="0" presId="urn:microsoft.com/office/officeart/2005/8/layout/pList2"/>
    <dgm:cxn modelId="{B1CBF953-1ECD-4183-80B0-B1578C6D16C9}" type="presParOf" srcId="{E49B8F15-5D3F-49E2-97F3-C5738E2F7D63}" destId="{EDD96E89-3B5E-4687-A1DB-2EEFC4AB0948}" srcOrd="8" destOrd="0" presId="urn:microsoft.com/office/officeart/2005/8/layout/pList2"/>
    <dgm:cxn modelId="{B3F96BE9-7A15-499C-9A4F-A50924F35EF4}" type="presParOf" srcId="{EDD96E89-3B5E-4687-A1DB-2EEFC4AB0948}" destId="{58D31F98-68BF-4F5E-A35C-F77F62622D24}" srcOrd="0" destOrd="0" presId="urn:microsoft.com/office/officeart/2005/8/layout/pList2"/>
    <dgm:cxn modelId="{8C784479-9965-478C-A084-846533C3B280}" type="presParOf" srcId="{EDD96E89-3B5E-4687-A1DB-2EEFC4AB0948}" destId="{B10D5D06-62C6-465E-BA43-224BE66BD42C}" srcOrd="1" destOrd="0" presId="urn:microsoft.com/office/officeart/2005/8/layout/pList2"/>
    <dgm:cxn modelId="{7BDCB0B9-4F3A-40F2-BC1C-16DB2B0D1D37}" type="presParOf" srcId="{EDD96E89-3B5E-4687-A1DB-2EEFC4AB0948}" destId="{AD4DC729-6476-484F-9F62-803A43D67B06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9AE2-B251-459D-BAC0-B98CFD716840}">
      <dsp:nvSpPr>
        <dsp:cNvPr id="0" name=""/>
        <dsp:cNvSpPr/>
      </dsp:nvSpPr>
      <dsp:spPr>
        <a:xfrm>
          <a:off x="0" y="395993"/>
          <a:ext cx="6477000" cy="943297"/>
        </a:xfrm>
        <a:prstGeom prst="rightArrow">
          <a:avLst>
            <a:gd name="adj1" fmla="val 50000"/>
            <a:gd name="adj2" fmla="val 50000"/>
          </a:avLst>
        </a:prstGeom>
        <a:solidFill>
          <a:srgbClr val="FF000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4974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DESKRIPSI PROJECT</a:t>
          </a:r>
        </a:p>
      </dsp:txBody>
      <dsp:txXfrm>
        <a:off x="0" y="631817"/>
        <a:ext cx="6241176" cy="471649"/>
      </dsp:txXfrm>
    </dsp:sp>
    <dsp:sp modelId="{10CCB9B6-69D6-45C9-92E5-BE098DEFCEEE}">
      <dsp:nvSpPr>
        <dsp:cNvPr id="0" name=""/>
        <dsp:cNvSpPr/>
      </dsp:nvSpPr>
      <dsp:spPr>
        <a:xfrm>
          <a:off x="0" y="1135204"/>
          <a:ext cx="1994916" cy="1817139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Reject Peel off </a:t>
          </a:r>
          <a:r>
            <a:rPr lang="en-US" sz="1000" kern="1200" dirty="0" err="1">
              <a:latin typeface="Comic Sans MS" panose="030F0702030302020204" pitchFamily="66" charset="0"/>
            </a:rPr>
            <a:t>adalah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terkelupasnya</a:t>
          </a:r>
          <a:r>
            <a:rPr lang="en-US" sz="1000" kern="1200" dirty="0">
              <a:latin typeface="Comic Sans MS" panose="030F0702030302020204" pitchFamily="66" charset="0"/>
            </a:rPr>
            <a:t> plating </a:t>
          </a:r>
          <a:r>
            <a:rPr lang="en-US" sz="1000" kern="1200" dirty="0" err="1">
              <a:latin typeface="Comic Sans MS" panose="030F0702030302020204" pitchFamily="66" charset="0"/>
            </a:rPr>
            <a:t>pada</a:t>
          </a:r>
          <a:r>
            <a:rPr lang="en-US" sz="1000" kern="1200" dirty="0">
              <a:latin typeface="Comic Sans MS" panose="030F0702030302020204" pitchFamily="66" charset="0"/>
            </a:rPr>
            <a:t> tungsten pin, </a:t>
          </a:r>
          <a:r>
            <a:rPr lang="en-US" sz="1000" kern="1200" dirty="0" err="1">
              <a:latin typeface="Comic Sans MS" panose="030F0702030302020204" pitchFamily="66" charset="0"/>
            </a:rPr>
            <a:t>sehingga</a:t>
          </a:r>
          <a:r>
            <a:rPr lang="en-US" sz="1000" kern="1200" dirty="0">
              <a:latin typeface="Comic Sans MS" panose="030F0702030302020204" pitchFamily="66" charset="0"/>
            </a:rPr>
            <a:t> customer </a:t>
          </a:r>
          <a:r>
            <a:rPr lang="en-US" sz="1000" kern="1200" dirty="0" err="1">
              <a:latin typeface="Comic Sans MS" panose="030F0702030302020204" pitchFamily="66" charset="0"/>
            </a:rPr>
            <a:t>tidak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bisa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melakukan</a:t>
          </a:r>
          <a:r>
            <a:rPr lang="en-US" sz="1000" kern="1200" dirty="0">
              <a:latin typeface="Comic Sans MS" panose="030F0702030302020204" pitchFamily="66" charset="0"/>
            </a:rPr>
            <a:t> solder </a:t>
          </a:r>
          <a:r>
            <a:rPr lang="en-US" sz="1000" kern="1200" dirty="0" err="1">
              <a:latin typeface="Comic Sans MS" panose="030F0702030302020204" pitchFamily="66" charset="0"/>
            </a:rPr>
            <a:t>pada</a:t>
          </a:r>
          <a:r>
            <a:rPr lang="en-US" sz="1000" kern="1200" dirty="0">
              <a:latin typeface="Comic Sans MS" panose="030F0702030302020204" pitchFamily="66" charset="0"/>
            </a:rPr>
            <a:t> customer </a:t>
          </a:r>
          <a:r>
            <a:rPr lang="en-US" sz="1000" kern="1200" dirty="0" err="1">
              <a:latin typeface="Comic Sans MS" panose="030F0702030302020204" pitchFamily="66" charset="0"/>
            </a:rPr>
            <a:t>aplikasi</a:t>
          </a:r>
          <a:r>
            <a:rPr lang="en-US" sz="1000" kern="1200" dirty="0">
              <a:latin typeface="Comic Sans MS" panose="030F0702030302020204" pitchFamily="66" charset="0"/>
            </a:rPr>
            <a:t>. </a:t>
          </a:r>
          <a:r>
            <a:rPr lang="en-US" sz="1000" kern="1200" dirty="0" err="1">
              <a:latin typeface="Comic Sans MS" panose="030F0702030302020204" pitchFamily="66" charset="0"/>
            </a:rPr>
            <a:t>Lumenis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adalah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salah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satu</a:t>
          </a:r>
          <a:r>
            <a:rPr lang="en-US" sz="1000" kern="1200" dirty="0">
              <a:latin typeface="Comic Sans MS" panose="030F0702030302020204" pitchFamily="66" charset="0"/>
            </a:rPr>
            <a:t> customer PHO </a:t>
          </a:r>
          <a:r>
            <a:rPr lang="en-US" sz="1000" kern="1200" dirty="0" err="1">
              <a:latin typeface="Comic Sans MS" panose="030F0702030302020204" pitchFamily="66" charset="0"/>
            </a:rPr>
            <a:t>dan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satu-satunya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cuntomer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untuk</a:t>
          </a:r>
          <a:r>
            <a:rPr lang="en-US" sz="1000" kern="1200" dirty="0">
              <a:latin typeface="Comic Sans MS" panose="030F0702030302020204" pitchFamily="66" charset="0"/>
            </a:rPr>
            <a:t> device L8467</a:t>
          </a:r>
        </a:p>
      </dsp:txBody>
      <dsp:txXfrm>
        <a:off x="0" y="1135204"/>
        <a:ext cx="1994916" cy="1817139"/>
      </dsp:txXfrm>
    </dsp:sp>
    <dsp:sp modelId="{31DFF8C3-EEBE-4A6B-B731-03C42F367347}">
      <dsp:nvSpPr>
        <dsp:cNvPr id="0" name=""/>
        <dsp:cNvSpPr/>
      </dsp:nvSpPr>
      <dsp:spPr>
        <a:xfrm>
          <a:off x="1994915" y="722217"/>
          <a:ext cx="4482084" cy="943297"/>
        </a:xfrm>
        <a:prstGeom prst="rightArrow">
          <a:avLst>
            <a:gd name="adj1" fmla="val 50000"/>
            <a:gd name="adj2" fmla="val 50000"/>
          </a:avLst>
        </a:prstGeom>
        <a:solidFill>
          <a:srgbClr val="FFFF0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4974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TUJUAN PROJECT</a:t>
          </a:r>
        </a:p>
      </dsp:txBody>
      <dsp:txXfrm>
        <a:off x="1994915" y="958041"/>
        <a:ext cx="4246260" cy="471649"/>
      </dsp:txXfrm>
    </dsp:sp>
    <dsp:sp modelId="{75D7824A-EAC1-4304-8BDB-4C81A7A8B064}">
      <dsp:nvSpPr>
        <dsp:cNvPr id="0" name=""/>
        <dsp:cNvSpPr/>
      </dsp:nvSpPr>
      <dsp:spPr>
        <a:xfrm>
          <a:off x="1994915" y="1449636"/>
          <a:ext cx="1994916" cy="1817139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1.  </a:t>
          </a:r>
          <a:r>
            <a:rPr lang="en-US" sz="1000" kern="1200" dirty="0" err="1">
              <a:latin typeface="Comic Sans MS" panose="030F0702030302020204" pitchFamily="66" charset="0"/>
            </a:rPr>
            <a:t>Mengurangi</a:t>
          </a:r>
          <a:r>
            <a:rPr lang="en-US" sz="1000" kern="1200" dirty="0">
              <a:latin typeface="Comic Sans MS" panose="030F0702030302020204" pitchFamily="66" charset="0"/>
            </a:rPr>
            <a:t> Reject Peel off plating di Customer </a:t>
          </a:r>
          <a:r>
            <a:rPr lang="en-US" sz="1000" kern="1200" dirty="0" err="1">
              <a:latin typeface="Comic Sans MS" panose="030F0702030302020204" pitchFamily="66" charset="0"/>
            </a:rPr>
            <a:t>maupun</a:t>
          </a:r>
          <a:r>
            <a:rPr lang="en-US" sz="1000" kern="1200" dirty="0">
              <a:latin typeface="Comic Sans MS" panose="030F0702030302020204" pitchFamily="66" charset="0"/>
            </a:rPr>
            <a:t> production.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2. </a:t>
          </a:r>
          <a:r>
            <a:rPr lang="en-US" sz="1000" kern="1200" dirty="0" err="1">
              <a:latin typeface="Comic Sans MS" panose="030F0702030302020204" pitchFamily="66" charset="0"/>
            </a:rPr>
            <a:t>Meningkatkan</a:t>
          </a:r>
          <a:r>
            <a:rPr lang="en-US" sz="1000" kern="1200" dirty="0">
              <a:latin typeface="Comic Sans MS" panose="030F0702030302020204" pitchFamily="66" charset="0"/>
            </a:rPr>
            <a:t> yield device L8467 </a:t>
          </a:r>
          <a:r>
            <a:rPr lang="en-US" sz="1000" kern="1200" dirty="0" err="1">
              <a:latin typeface="Comic Sans MS" panose="030F0702030302020204" pitchFamily="66" charset="0"/>
            </a:rPr>
            <a:t>dan</a:t>
          </a:r>
          <a:r>
            <a:rPr lang="en-US" sz="1000" kern="1200" dirty="0">
              <a:latin typeface="Comic Sans MS" panose="030F0702030302020204" pitchFamily="66" charset="0"/>
            </a:rPr>
            <a:t> yield Photonic product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3.  </a:t>
          </a:r>
          <a:r>
            <a:rPr lang="en-US" sz="1000" kern="1200" dirty="0" err="1">
              <a:latin typeface="Comic Sans MS" panose="030F0702030302020204" pitchFamily="66" charset="0"/>
            </a:rPr>
            <a:t>Mengurangi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waktu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untuk</a:t>
          </a:r>
          <a:r>
            <a:rPr lang="en-US" sz="1000" kern="1200" dirty="0">
              <a:latin typeface="Comic Sans MS" panose="030F0702030302020204" pitchFamily="66" charset="0"/>
            </a:rPr>
            <a:t> rework </a:t>
          </a:r>
        </a:p>
      </dsp:txBody>
      <dsp:txXfrm>
        <a:off x="1994915" y="1449636"/>
        <a:ext cx="1994916" cy="1817139"/>
      </dsp:txXfrm>
    </dsp:sp>
    <dsp:sp modelId="{E5C8B16A-0CF8-442E-B591-EE1BE102AD20}">
      <dsp:nvSpPr>
        <dsp:cNvPr id="0" name=""/>
        <dsp:cNvSpPr/>
      </dsp:nvSpPr>
      <dsp:spPr>
        <a:xfrm>
          <a:off x="3989832" y="1036650"/>
          <a:ext cx="2487168" cy="943297"/>
        </a:xfrm>
        <a:prstGeom prst="rightArrow">
          <a:avLst>
            <a:gd name="adj1" fmla="val 50000"/>
            <a:gd name="adj2" fmla="val 50000"/>
          </a:avLst>
        </a:prstGeom>
        <a:solidFill>
          <a:srgbClr val="92D05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49749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00FF"/>
              </a:solidFill>
            </a:rPr>
            <a:t>KEUNTUNGAN PROJECT</a:t>
          </a:r>
        </a:p>
      </dsp:txBody>
      <dsp:txXfrm>
        <a:off x="3989832" y="1272474"/>
        <a:ext cx="2251344" cy="471649"/>
      </dsp:txXfrm>
    </dsp:sp>
    <dsp:sp modelId="{9CAC7A14-1BC9-4128-B89B-992080151DC6}">
      <dsp:nvSpPr>
        <dsp:cNvPr id="0" name=""/>
        <dsp:cNvSpPr/>
      </dsp:nvSpPr>
      <dsp:spPr>
        <a:xfrm>
          <a:off x="3989832" y="1764069"/>
          <a:ext cx="1994916" cy="1790545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- Engineering </a:t>
          </a:r>
          <a:r>
            <a:rPr lang="en-US" sz="1000" kern="1200" dirty="0" err="1">
              <a:latin typeface="Comic Sans MS" panose="030F0702030302020204" pitchFamily="66" charset="0"/>
            </a:rPr>
            <a:t>senang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karena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tidak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ada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lagi</a:t>
          </a:r>
          <a:r>
            <a:rPr lang="en-US" sz="1000" kern="1200" dirty="0">
              <a:latin typeface="Comic Sans MS" panose="030F0702030302020204" pitchFamily="66" charset="0"/>
            </a:rPr>
            <a:t> RMA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- Supervisor Prod </a:t>
          </a:r>
          <a:r>
            <a:rPr lang="en-US" sz="1000" kern="1200" dirty="0" err="1">
              <a:latin typeface="Comic Sans MS" panose="030F0702030302020204" pitchFamily="66" charset="0"/>
            </a:rPr>
            <a:t>Sangat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terbantu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karena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mempercepat</a:t>
          </a:r>
          <a:r>
            <a:rPr lang="en-US" sz="1000" kern="1200" dirty="0">
              <a:latin typeface="Comic Sans MS" panose="030F0702030302020204" pitchFamily="66" charset="0"/>
            </a:rPr>
            <a:t> proses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- CSR </a:t>
          </a:r>
          <a:r>
            <a:rPr lang="en-US" sz="1000" kern="1200" dirty="0" err="1">
              <a:latin typeface="Comic Sans MS" panose="030F0702030302020204" pitchFamily="66" charset="0"/>
            </a:rPr>
            <a:t>ikut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gembira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karena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tidak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ada</a:t>
          </a:r>
          <a:r>
            <a:rPr lang="en-US" sz="1000" kern="1200" dirty="0">
              <a:latin typeface="Comic Sans MS" panose="030F0702030302020204" pitchFamily="66" charset="0"/>
            </a:rPr>
            <a:t> feedback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- Planner </a:t>
          </a:r>
          <a:r>
            <a:rPr lang="en-US" sz="1000" kern="1200" dirty="0" err="1">
              <a:latin typeface="Comic Sans MS" panose="030F0702030302020204" pitchFamily="66" charset="0"/>
            </a:rPr>
            <a:t>Setuju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karena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pengiriman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tepat</a:t>
          </a:r>
          <a:r>
            <a:rPr lang="en-US" sz="1000" kern="1200" dirty="0">
              <a:latin typeface="Comic Sans MS" panose="030F0702030302020204" pitchFamily="66" charset="0"/>
            </a:rPr>
            <a:t> </a:t>
          </a:r>
          <a:r>
            <a:rPr lang="en-US" sz="1000" kern="1200" dirty="0" err="1">
              <a:latin typeface="Comic Sans MS" panose="030F0702030302020204" pitchFamily="66" charset="0"/>
            </a:rPr>
            <a:t>waktu</a:t>
          </a:r>
          <a:endParaRPr lang="en-US" sz="1000" kern="1200" dirty="0">
            <a:latin typeface="Comic Sans MS" panose="030F0702030302020204" pitchFamily="66" charset="0"/>
          </a:endParaRPr>
        </a:p>
      </dsp:txBody>
      <dsp:txXfrm>
        <a:off x="3989832" y="1764069"/>
        <a:ext cx="1994916" cy="1790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C6475-37F4-4A1B-A7B9-27EA6DD4E896}">
      <dsp:nvSpPr>
        <dsp:cNvPr id="0" name=""/>
        <dsp:cNvSpPr/>
      </dsp:nvSpPr>
      <dsp:spPr>
        <a:xfrm>
          <a:off x="0" y="40181"/>
          <a:ext cx="4971008" cy="6551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DC31A-DBB5-4783-8D1C-A17638B66641}">
      <dsp:nvSpPr>
        <dsp:cNvPr id="0" name=""/>
        <dsp:cNvSpPr/>
      </dsp:nvSpPr>
      <dsp:spPr>
        <a:xfrm>
          <a:off x="303018" y="120544"/>
          <a:ext cx="552561" cy="770036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080C7-86F8-4EF0-AB2A-A2B262B99403}">
      <dsp:nvSpPr>
        <dsp:cNvPr id="0" name=""/>
        <dsp:cNvSpPr/>
      </dsp:nvSpPr>
      <dsp:spPr>
        <a:xfrm rot="10800000">
          <a:off x="149785" y="1051307"/>
          <a:ext cx="859028" cy="364411"/>
        </a:xfrm>
        <a:prstGeom prst="round2SameRect">
          <a:avLst>
            <a:gd name="adj1" fmla="val 10500"/>
            <a:gd name="adj2" fmla="val 0"/>
          </a:avLst>
        </a:prstGeom>
        <a:solidFill>
          <a:srgbClr val="CF3DB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Champion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Nova Apriani</a:t>
          </a:r>
        </a:p>
      </dsp:txBody>
      <dsp:txXfrm rot="10800000">
        <a:off x="160992" y="1051307"/>
        <a:ext cx="836614" cy="353204"/>
      </dsp:txXfrm>
    </dsp:sp>
    <dsp:sp modelId="{DA867FD9-D092-4AC2-A090-5BA7A4AEE2D1}">
      <dsp:nvSpPr>
        <dsp:cNvPr id="0" name=""/>
        <dsp:cNvSpPr/>
      </dsp:nvSpPr>
      <dsp:spPr>
        <a:xfrm rot="5400000">
          <a:off x="1110144" y="161787"/>
          <a:ext cx="828171" cy="610393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96AB7-6A7B-4FCE-8152-72497BA76A46}">
      <dsp:nvSpPr>
        <dsp:cNvPr id="0" name=""/>
        <dsp:cNvSpPr/>
      </dsp:nvSpPr>
      <dsp:spPr>
        <a:xfrm rot="10800000">
          <a:off x="1094716" y="1022587"/>
          <a:ext cx="859028" cy="364411"/>
        </a:xfrm>
        <a:prstGeom prst="round2SameRect">
          <a:avLst>
            <a:gd name="adj1" fmla="val 10500"/>
            <a:gd name="adj2" fmla="val 0"/>
          </a:avLst>
        </a:prstGeom>
        <a:solidFill>
          <a:srgbClr val="CF3DB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Leader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Nurul</a:t>
          </a:r>
          <a:r>
            <a:rPr lang="en-US" sz="900" kern="1200" dirty="0"/>
            <a:t> R</a:t>
          </a:r>
        </a:p>
      </dsp:txBody>
      <dsp:txXfrm rot="10800000">
        <a:off x="1105923" y="1022587"/>
        <a:ext cx="836614" cy="353204"/>
      </dsp:txXfrm>
    </dsp:sp>
    <dsp:sp modelId="{3D1E9FCC-72CA-460B-8403-74F7A801E82E}">
      <dsp:nvSpPr>
        <dsp:cNvPr id="0" name=""/>
        <dsp:cNvSpPr/>
      </dsp:nvSpPr>
      <dsp:spPr>
        <a:xfrm>
          <a:off x="2095866" y="120882"/>
          <a:ext cx="746589" cy="768686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446C7-3DA2-462E-80AD-7BF1FAA4F2C1}">
      <dsp:nvSpPr>
        <dsp:cNvPr id="0" name=""/>
        <dsp:cNvSpPr/>
      </dsp:nvSpPr>
      <dsp:spPr>
        <a:xfrm rot="10800000">
          <a:off x="2039646" y="1050969"/>
          <a:ext cx="859028" cy="364411"/>
        </a:xfrm>
        <a:prstGeom prst="round2SameRect">
          <a:avLst>
            <a:gd name="adj1" fmla="val 10500"/>
            <a:gd name="adj2" fmla="val 0"/>
          </a:avLst>
        </a:prstGeom>
        <a:solidFill>
          <a:srgbClr val="CF3DB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Member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Martha N</a:t>
          </a:r>
        </a:p>
      </dsp:txBody>
      <dsp:txXfrm rot="10800000">
        <a:off x="2050853" y="1050969"/>
        <a:ext cx="836614" cy="353204"/>
      </dsp:txXfrm>
    </dsp:sp>
    <dsp:sp modelId="{06D03FB2-31DB-4C32-B38D-3B7B5D60E974}">
      <dsp:nvSpPr>
        <dsp:cNvPr id="0" name=""/>
        <dsp:cNvSpPr/>
      </dsp:nvSpPr>
      <dsp:spPr>
        <a:xfrm>
          <a:off x="2984577" y="122233"/>
          <a:ext cx="891714" cy="763281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0B241-32FB-459D-AC3C-31EA7B3E6EB8}">
      <dsp:nvSpPr>
        <dsp:cNvPr id="0" name=""/>
        <dsp:cNvSpPr/>
      </dsp:nvSpPr>
      <dsp:spPr>
        <a:xfrm rot="10800000">
          <a:off x="3000920" y="1049618"/>
          <a:ext cx="859028" cy="364411"/>
        </a:xfrm>
        <a:prstGeom prst="round2SameRect">
          <a:avLst>
            <a:gd name="adj1" fmla="val 10500"/>
            <a:gd name="adj2" fmla="val 0"/>
          </a:avLst>
        </a:prstGeom>
        <a:solidFill>
          <a:srgbClr val="CF3DB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Member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Vani K</a:t>
          </a:r>
        </a:p>
      </dsp:txBody>
      <dsp:txXfrm rot="10800000">
        <a:off x="3012127" y="1049618"/>
        <a:ext cx="836614" cy="353204"/>
      </dsp:txXfrm>
    </dsp:sp>
    <dsp:sp modelId="{AD4DC729-6476-484F-9F62-803A43D67B06}">
      <dsp:nvSpPr>
        <dsp:cNvPr id="0" name=""/>
        <dsp:cNvSpPr/>
      </dsp:nvSpPr>
      <dsp:spPr>
        <a:xfrm>
          <a:off x="4082888" y="127639"/>
          <a:ext cx="617641" cy="741656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31F98-68BF-4F5E-A35C-F77F62622D24}">
      <dsp:nvSpPr>
        <dsp:cNvPr id="0" name=""/>
        <dsp:cNvSpPr/>
      </dsp:nvSpPr>
      <dsp:spPr>
        <a:xfrm rot="10800000">
          <a:off x="3962194" y="1044212"/>
          <a:ext cx="859028" cy="364411"/>
        </a:xfrm>
        <a:prstGeom prst="round2SameRect">
          <a:avLst>
            <a:gd name="adj1" fmla="val 10500"/>
            <a:gd name="adj2" fmla="val 0"/>
          </a:avLst>
        </a:prstGeom>
        <a:solidFill>
          <a:srgbClr val="CF3DB0"/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Member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Andhika</a:t>
          </a:r>
          <a:endParaRPr lang="en-US" sz="900" kern="1200" dirty="0"/>
        </a:p>
      </dsp:txBody>
      <dsp:txXfrm rot="10800000">
        <a:off x="3973401" y="1044212"/>
        <a:ext cx="836614" cy="353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92BEC-2541-4360-8BAA-417DACE9D34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B8417-2AFE-4FCD-AAD4-D0DE24C8F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Tuliskan</a:t>
            </a:r>
            <a:r>
              <a:rPr lang="en-US" baseline="0" dirty="0"/>
              <a:t> </a:t>
            </a:r>
            <a:r>
              <a:rPr lang="en-US" baseline="0" dirty="0" err="1"/>
              <a:t>Judul</a:t>
            </a:r>
            <a:r>
              <a:rPr lang="en-US" baseline="0" dirty="0"/>
              <a:t> project </a:t>
            </a:r>
            <a:r>
              <a:rPr lang="en-US" baseline="0" dirty="0" err="1"/>
              <a:t>anda</a:t>
            </a:r>
            <a:r>
              <a:rPr lang="en-US" baseline="0" dirty="0"/>
              <a:t> dan </a:t>
            </a:r>
            <a:r>
              <a:rPr lang="en-US" baseline="0" dirty="0" err="1"/>
              <a:t>nama</a:t>
            </a:r>
            <a:r>
              <a:rPr lang="en-US" baseline="0" dirty="0"/>
              <a:t> team </a:t>
            </a:r>
            <a:r>
              <a:rPr lang="en-US" baseline="0" dirty="0" err="1"/>
              <a:t>Anda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B8417-2AFE-4FCD-AAD4-D0DE24C8F1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8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Kenalkan</a:t>
            </a:r>
            <a:r>
              <a:rPr lang="en-US" baseline="0" dirty="0"/>
              <a:t> Team dan project </a:t>
            </a:r>
            <a:r>
              <a:rPr lang="en-US" baseline="0" dirty="0" err="1"/>
              <a:t>Anda</a:t>
            </a:r>
            <a:r>
              <a:rPr lang="en-US" baseline="0" dirty="0"/>
              <a:t> </a:t>
            </a:r>
            <a:r>
              <a:rPr lang="en-US" baseline="0" dirty="0" err="1"/>
              <a:t>disini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B8417-2AFE-4FCD-AAD4-D0DE24C8F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43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3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4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62913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5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792364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6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2789147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7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2885145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8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Slide</a:t>
            </a:r>
            <a:r>
              <a:rPr lang="en-US" baseline="0" dirty="0"/>
              <a:t> </a:t>
            </a:r>
            <a:r>
              <a:rPr lang="en-US" baseline="0" dirty="0" err="1"/>
              <a:t>ini</a:t>
            </a:r>
            <a:r>
              <a:rPr lang="en-US" baseline="0" dirty="0"/>
              <a:t> </a:t>
            </a:r>
            <a:r>
              <a:rPr lang="en-US" baseline="0" dirty="0" err="1"/>
              <a:t>hanya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Productivity Improvement Project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Click </a:t>
            </a:r>
            <a:r>
              <a:rPr lang="en-US" baseline="0" dirty="0" err="1"/>
              <a:t>Kanan</a:t>
            </a:r>
            <a:r>
              <a:rPr lang="en-US" baseline="0" dirty="0"/>
              <a:t> di </a:t>
            </a:r>
            <a:r>
              <a:rPr lang="en-US" baseline="0" dirty="0" err="1"/>
              <a:t>pareto</a:t>
            </a:r>
            <a:r>
              <a:rPr lang="en-US" baseline="0" dirty="0"/>
              <a:t> Chart </a:t>
            </a:r>
            <a:r>
              <a:rPr lang="en-US" baseline="0" dirty="0" err="1"/>
              <a:t>kemudian</a:t>
            </a:r>
            <a:r>
              <a:rPr lang="en-US" baseline="0" dirty="0"/>
              <a:t> </a:t>
            </a:r>
            <a:r>
              <a:rPr lang="en-US" baseline="0" dirty="0" err="1"/>
              <a:t>pilih</a:t>
            </a:r>
            <a:r>
              <a:rPr lang="en-US" baseline="0" dirty="0"/>
              <a:t> “edit data” </a:t>
            </a:r>
            <a:r>
              <a:rPr lang="en-US" baseline="0" dirty="0" err="1"/>
              <a:t>untuk</a:t>
            </a:r>
            <a:r>
              <a:rPr lang="en-US" baseline="0" dirty="0"/>
              <a:t> input data project </a:t>
            </a:r>
            <a:r>
              <a:rPr lang="en-US" baseline="0" dirty="0" err="1"/>
              <a:t>anda</a:t>
            </a: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094404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 err="1"/>
              <a:t>Gunakan</a:t>
            </a:r>
            <a:r>
              <a:rPr lang="en-US" baseline="0" dirty="0"/>
              <a:t> template </a:t>
            </a:r>
            <a:r>
              <a:rPr lang="en-US" baseline="0" dirty="0" err="1"/>
              <a:t>diatas</a:t>
            </a:r>
            <a:r>
              <a:rPr lang="en-US" baseline="0" dirty="0"/>
              <a:t> </a:t>
            </a:r>
            <a:r>
              <a:rPr lang="en-US" baseline="0" dirty="0" err="1"/>
              <a:t>untuk</a:t>
            </a:r>
            <a:r>
              <a:rPr lang="en-US" baseline="0" dirty="0"/>
              <a:t> </a:t>
            </a:r>
            <a:r>
              <a:rPr lang="en-US" baseline="0" dirty="0" err="1"/>
              <a:t>buat</a:t>
            </a:r>
            <a:r>
              <a:rPr lang="en-US" baseline="0" dirty="0"/>
              <a:t> Fishbone (Diagram </a:t>
            </a:r>
            <a:r>
              <a:rPr lang="en-US" baseline="0" dirty="0" err="1"/>
              <a:t>Tulang</a:t>
            </a:r>
            <a:r>
              <a:rPr lang="en-US" baseline="0" dirty="0"/>
              <a:t> </a:t>
            </a:r>
            <a:r>
              <a:rPr lang="en-US" baseline="0" dirty="0" err="1"/>
              <a:t>Ikan</a:t>
            </a:r>
            <a:r>
              <a:rPr lang="en-US" baseline="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baseline="0" dirty="0" err="1"/>
              <a:t>Silahkan</a:t>
            </a:r>
            <a:r>
              <a:rPr lang="en-US" baseline="0" dirty="0"/>
              <a:t> di </a:t>
            </a:r>
            <a:r>
              <a:rPr lang="en-US" baseline="0" dirty="0" err="1"/>
              <a:t>tambahkan</a:t>
            </a:r>
            <a:r>
              <a:rPr lang="en-US" baseline="0" dirty="0"/>
              <a:t>/</a:t>
            </a:r>
            <a:r>
              <a:rPr lang="en-US" baseline="0" dirty="0" err="1"/>
              <a:t>dikurangi</a:t>
            </a:r>
            <a:r>
              <a:rPr lang="en-US" baseline="0" dirty="0"/>
              <a:t> </a:t>
            </a:r>
            <a:r>
              <a:rPr lang="en-US" baseline="0" dirty="0" err="1"/>
              <a:t>tulang-tulang</a:t>
            </a:r>
            <a:r>
              <a:rPr lang="en-US" baseline="0" dirty="0"/>
              <a:t> </a:t>
            </a:r>
            <a:r>
              <a:rPr lang="en-US" baseline="0" dirty="0" err="1"/>
              <a:t>lainnya</a:t>
            </a:r>
            <a:r>
              <a:rPr lang="en-US" baseline="0" dirty="0"/>
              <a:t> </a:t>
            </a:r>
            <a:r>
              <a:rPr lang="en-US" baseline="0" dirty="0" err="1"/>
              <a:t>sesuai</a:t>
            </a:r>
            <a:r>
              <a:rPr lang="en-US" baseline="0" dirty="0"/>
              <a:t> </a:t>
            </a:r>
            <a:r>
              <a:rPr lang="en-US" baseline="0" dirty="0" err="1"/>
              <a:t>dengan</a:t>
            </a:r>
            <a:r>
              <a:rPr lang="en-US" baseline="0" dirty="0"/>
              <a:t> </a:t>
            </a:r>
            <a:r>
              <a:rPr lang="en-US" baseline="0" dirty="0" err="1"/>
              <a:t>kebutuhan</a:t>
            </a:r>
            <a:r>
              <a:rPr lang="en-US" baseline="0" dirty="0"/>
              <a:t> (</a:t>
            </a:r>
            <a:r>
              <a:rPr lang="en-US" baseline="0" dirty="0" err="1"/>
              <a:t>hasil</a:t>
            </a:r>
            <a:r>
              <a:rPr lang="en-US" baseline="0" dirty="0"/>
              <a:t> brainstorming team </a:t>
            </a:r>
            <a:r>
              <a:rPr lang="en-US" baseline="0" dirty="0" err="1"/>
              <a:t>anda</a:t>
            </a:r>
            <a:r>
              <a:rPr lang="en-US" baseline="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baseline="0" dirty="0" err="1"/>
              <a:t>Tandai</a:t>
            </a:r>
            <a:r>
              <a:rPr lang="en-US" baseline="0" dirty="0"/>
              <a:t> </a:t>
            </a:r>
            <a:r>
              <a:rPr lang="en-US" baseline="0" dirty="0" err="1"/>
              <a:t>dan</a:t>
            </a:r>
            <a:r>
              <a:rPr lang="en-US" baseline="0" dirty="0"/>
              <a:t> </a:t>
            </a:r>
            <a:r>
              <a:rPr lang="en-US" baseline="0" dirty="0" err="1"/>
              <a:t>beri</a:t>
            </a:r>
            <a:r>
              <a:rPr lang="en-US" baseline="0" dirty="0"/>
              <a:t> </a:t>
            </a:r>
            <a:r>
              <a:rPr lang="en-US" baseline="0" dirty="0" err="1"/>
              <a:t>nomor</a:t>
            </a:r>
            <a:r>
              <a:rPr lang="en-US" baseline="0" dirty="0"/>
              <a:t> (</a:t>
            </a:r>
            <a:r>
              <a:rPr lang="en-US" baseline="0" dirty="0" err="1"/>
              <a:t>contoh</a:t>
            </a:r>
            <a:r>
              <a:rPr lang="en-US" baseline="0" dirty="0"/>
              <a:t>: 1 </a:t>
            </a:r>
            <a:r>
              <a:rPr lang="en-US" baseline="0" dirty="0" err="1"/>
              <a:t>dan</a:t>
            </a:r>
            <a:r>
              <a:rPr lang="en-US" baseline="0" dirty="0"/>
              <a:t> 2 di material) </a:t>
            </a:r>
            <a:r>
              <a:rPr lang="en-US" baseline="0" dirty="0" err="1"/>
              <a:t>untuk</a:t>
            </a:r>
            <a:r>
              <a:rPr lang="en-US" baseline="0" dirty="0"/>
              <a:t> </a:t>
            </a:r>
            <a:r>
              <a:rPr lang="en-US" b="1" baseline="0" dirty="0" err="1"/>
              <a:t>semua</a:t>
            </a:r>
            <a:r>
              <a:rPr lang="en-US" b="1" baseline="0" dirty="0"/>
              <a:t> </a:t>
            </a:r>
            <a:r>
              <a:rPr lang="en-US" b="1" baseline="0" dirty="0" err="1"/>
              <a:t>tulang</a:t>
            </a:r>
            <a:r>
              <a:rPr lang="en-US" b="1" baseline="0" dirty="0"/>
              <a:t> yang paling </a:t>
            </a:r>
            <a:r>
              <a:rPr lang="en-US" b="1" baseline="0" dirty="0" err="1"/>
              <a:t>kecil</a:t>
            </a:r>
            <a:r>
              <a:rPr lang="en-US" baseline="0" dirty="0"/>
              <a:t> </a:t>
            </a:r>
            <a:r>
              <a:rPr lang="en-US" baseline="0" dirty="0" err="1"/>
              <a:t>sebagai</a:t>
            </a:r>
            <a:r>
              <a:rPr lang="en-US" baseline="0" dirty="0"/>
              <a:t> </a:t>
            </a:r>
            <a:r>
              <a:rPr lang="en-US" baseline="0" dirty="0" err="1"/>
              <a:t>kemungkinan</a:t>
            </a:r>
            <a:r>
              <a:rPr lang="en-US" baseline="0" dirty="0"/>
              <a:t> </a:t>
            </a:r>
            <a:r>
              <a:rPr lang="en-US" baseline="0" dirty="0" err="1"/>
              <a:t>penyebab</a:t>
            </a:r>
            <a:r>
              <a:rPr lang="en-US" baseline="0" dirty="0"/>
              <a:t> </a:t>
            </a:r>
            <a:r>
              <a:rPr lang="en-US" baseline="0" dirty="0" err="1"/>
              <a:t>masalahnya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B8417-2AFE-4FCD-AAD4-D0DE24C8F15B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724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prstClr val="black"/>
                </a:solidFill>
              </a:rPr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>
                <a:solidFill>
                  <a:prstClr val="black"/>
                </a:solidFill>
              </a:rPr>
              <a:pPr eaLnBrk="1" hangingPunct="1"/>
              <a:t>11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</p:spTree>
    <p:extLst>
      <p:ext uri="{BB962C8B-B14F-4D97-AF65-F5344CB8AC3E}">
        <p14:creationId xmlns:p14="http://schemas.microsoft.com/office/powerpoint/2010/main" val="1073502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12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Tampilkan</a:t>
            </a:r>
            <a:r>
              <a:rPr lang="en-US" dirty="0"/>
              <a:t> Pareto before-after improvement</a:t>
            </a:r>
            <a:r>
              <a:rPr lang="en-US" baseline="0" dirty="0"/>
              <a:t> </a:t>
            </a:r>
            <a:r>
              <a:rPr lang="en-US" baseline="0" dirty="0" err="1"/>
              <a:t>anda</a:t>
            </a:r>
            <a:r>
              <a:rPr lang="en-US" baseline="0" dirty="0"/>
              <a:t> </a:t>
            </a:r>
            <a:r>
              <a:rPr lang="en-US" baseline="0" dirty="0" err="1"/>
              <a:t>disini</a:t>
            </a:r>
            <a:r>
              <a:rPr lang="en-US" baseline="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john shook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29057" indent="-280406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162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0276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18927" indent="-224325" defTabSz="914437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6757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16227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6487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3528" indent="-224325" defTabSz="9144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AC13F4-5EC0-4507-8F57-5B4ECA52CEDA}" type="slidenum">
              <a:rPr lang="en-US" altLang="en-US" smtClean="0"/>
              <a:pPr eaLnBrk="1" hangingPunct="1"/>
              <a:t>13</a:t>
            </a:fld>
            <a:endParaRPr lang="en-US" altLang="en-US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2288" y="1008063"/>
            <a:ext cx="5676900" cy="4257675"/>
          </a:xfrm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document yang </a:t>
            </a:r>
            <a:r>
              <a:rPr lang="en-US" dirty="0" err="1"/>
              <a:t>sudah</a:t>
            </a:r>
            <a:r>
              <a:rPr lang="en-US" dirty="0"/>
              <a:t> di </a:t>
            </a:r>
            <a:r>
              <a:rPr lang="en-US" dirty="0" err="1"/>
              <a:t>revisi</a:t>
            </a:r>
            <a:r>
              <a:rPr lang="en-US" baseline="0" dirty="0"/>
              <a:t> </a:t>
            </a:r>
            <a:r>
              <a:rPr lang="en-US" baseline="0" dirty="0" err="1"/>
              <a:t>terkait</a:t>
            </a:r>
            <a:r>
              <a:rPr lang="en-US" baseline="0" dirty="0"/>
              <a:t> project </a:t>
            </a:r>
            <a:r>
              <a:rPr lang="en-US" baseline="0" dirty="0" err="1"/>
              <a:t>anda</a:t>
            </a:r>
            <a:r>
              <a:rPr lang="en-US" baseline="0" dirty="0"/>
              <a:t>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resentation leaper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7027"/>
            <a:ext cx="1828800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8"/>
          <p:cNvSpPr>
            <a:spLocks/>
          </p:cNvSpPr>
          <p:nvPr userDrawn="1"/>
        </p:nvSpPr>
        <p:spPr bwMode="auto">
          <a:xfrm>
            <a:off x="228600" y="304801"/>
            <a:ext cx="1828800" cy="1746251"/>
          </a:xfrm>
          <a:custGeom>
            <a:avLst/>
            <a:gdLst/>
            <a:ahLst/>
            <a:cxnLst>
              <a:cxn ang="0">
                <a:pos x="768" y="0"/>
              </a:cxn>
              <a:cxn ang="0">
                <a:pos x="0" y="0"/>
              </a:cxn>
              <a:cxn ang="0">
                <a:pos x="0" y="1008"/>
              </a:cxn>
              <a:cxn ang="0">
                <a:pos x="1056" y="1008"/>
              </a:cxn>
              <a:cxn ang="0">
                <a:pos x="1056" y="240"/>
              </a:cxn>
            </a:cxnLst>
            <a:rect l="0" t="0" r="r" b="b"/>
            <a:pathLst>
              <a:path w="1056" h="1008">
                <a:moveTo>
                  <a:pt x="768" y="0"/>
                </a:moveTo>
                <a:lnTo>
                  <a:pt x="0" y="0"/>
                </a:lnTo>
                <a:lnTo>
                  <a:pt x="0" y="1008"/>
                </a:lnTo>
                <a:lnTo>
                  <a:pt x="1056" y="1008"/>
                </a:lnTo>
                <a:lnTo>
                  <a:pt x="1056" y="240"/>
                </a:lnTo>
              </a:path>
            </a:pathLst>
          </a:custGeom>
          <a:noFill/>
          <a:ln w="12700" cmpd="sng">
            <a:solidFill>
              <a:srgbClr val="41963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6" name="AutoShape 9"/>
          <p:cNvCxnSpPr>
            <a:cxnSpLocks noChangeShapeType="1"/>
          </p:cNvCxnSpPr>
          <p:nvPr userDrawn="1"/>
        </p:nvCxnSpPr>
        <p:spPr bwMode="auto">
          <a:xfrm flipH="1" flipV="1">
            <a:off x="1558925" y="304800"/>
            <a:ext cx="498475" cy="415925"/>
          </a:xfrm>
          <a:prstGeom prst="curvedConnector4">
            <a:avLst>
              <a:gd name="adj1" fmla="val 694"/>
              <a:gd name="adj2" fmla="val 100000"/>
            </a:avLst>
          </a:prstGeom>
          <a:noFill/>
          <a:ln w="12700">
            <a:solidFill>
              <a:srgbClr val="41963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04800"/>
            <a:ext cx="6629400" cy="1752600"/>
          </a:xfrm>
        </p:spPr>
        <p:txBody>
          <a:bodyPr/>
          <a:lstStyle>
            <a:lvl1pPr>
              <a:defRPr sz="4400">
                <a:solidFill>
                  <a:srgbClr val="09347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2286000"/>
            <a:ext cx="6629400" cy="1143000"/>
          </a:xfrm>
        </p:spPr>
        <p:txBody>
          <a:bodyPr/>
          <a:lstStyle>
            <a:lvl1pPr marL="0" indent="0">
              <a:buFont typeface="Times New Roman" pitchFamily="18" charset="0"/>
              <a:buNone/>
              <a:defRPr sz="2800" b="0">
                <a:solidFill>
                  <a:srgbClr val="419638"/>
                </a:solidFill>
                <a:latin typeface="Helvetica" pitchFamily="110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990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25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704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1529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828800"/>
            <a:ext cx="41529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71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272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916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71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430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024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947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228600"/>
            <a:ext cx="21145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1912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806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28600"/>
            <a:ext cx="8458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28800"/>
            <a:ext cx="41529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828800"/>
            <a:ext cx="41529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38600"/>
            <a:ext cx="41529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2500" y="4038600"/>
            <a:ext cx="41529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5208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64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9059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4048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79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38412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9986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7648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0683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80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29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30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4455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8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72466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997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5319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2464-C713-4A10-B92F-4480CAF6C272}" type="datetimeFigureOut">
              <a:rPr lang="en-ID" smtClean="0"/>
              <a:t>14/03/2026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BD2FC-0429-47B5-807A-B661EB2267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6734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6"/>
          <p:cNvSpPr>
            <a:spLocks noGrp="1"/>
          </p:cNvSpPr>
          <p:nvPr>
            <p:ph type="body" sz="quarter" idx="12" hasCustomPrompt="1"/>
          </p:nvPr>
        </p:nvSpPr>
        <p:spPr>
          <a:xfrm>
            <a:off x="3213100" y="1855788"/>
            <a:ext cx="5621338" cy="1062037"/>
          </a:xfrm>
          <a:prstGeom prst="rect">
            <a:avLst/>
          </a:prstGeom>
        </p:spPr>
        <p:txBody>
          <a:bodyPr/>
          <a:lstStyle>
            <a:lvl1pPr>
              <a:buNone/>
              <a:defRPr sz="3600" b="1"/>
            </a:lvl1pPr>
          </a:lstStyle>
          <a:p>
            <a:pPr marL="0" indent="0">
              <a:defRPr/>
            </a:pPr>
            <a:r>
              <a:rPr lang="en-US" dirty="0"/>
              <a:t>E</a:t>
            </a:r>
            <a:r>
              <a:rPr dirty="0"/>
              <a:t>xcelitas Technologies</a:t>
            </a:r>
            <a:br>
              <a:rPr dirty="0"/>
            </a:br>
            <a:endParaRPr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00400" y="3048000"/>
            <a:ext cx="5638800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Title</a:t>
            </a:r>
          </a:p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677374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– Background </a:t>
            </a:r>
          </a:p>
        </p:txBody>
      </p:sp>
    </p:spTree>
    <p:extLst>
      <p:ext uri="{BB962C8B-B14F-4D97-AF65-F5344CB8AC3E}">
        <p14:creationId xmlns:p14="http://schemas.microsoft.com/office/powerpoint/2010/main" val="3277560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00400" y="3048000"/>
            <a:ext cx="5638800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Title</a:t>
            </a:r>
          </a:p>
          <a:p>
            <a:r>
              <a:rPr lang="en-US" dirty="0"/>
              <a:t>Date</a:t>
            </a:r>
          </a:p>
        </p:txBody>
      </p:sp>
      <p:sp>
        <p:nvSpPr>
          <p:cNvPr id="7" name="Text Placeholder 56"/>
          <p:cNvSpPr>
            <a:spLocks noGrp="1"/>
          </p:cNvSpPr>
          <p:nvPr>
            <p:ph type="body" sz="quarter" idx="12" hasCustomPrompt="1"/>
          </p:nvPr>
        </p:nvSpPr>
        <p:spPr>
          <a:xfrm>
            <a:off x="3213100" y="1855788"/>
            <a:ext cx="5621338" cy="1062037"/>
          </a:xfrm>
          <a:prstGeom prst="rect">
            <a:avLst/>
          </a:prstGeom>
        </p:spPr>
        <p:txBody>
          <a:bodyPr/>
          <a:lstStyle>
            <a:lvl1pPr>
              <a:buNone/>
              <a:defRPr sz="3600" b="1"/>
            </a:lvl1pPr>
          </a:lstStyle>
          <a:p>
            <a:pPr marL="0" indent="0">
              <a:defRPr/>
            </a:pPr>
            <a:r>
              <a:rPr lang="en-US" dirty="0"/>
              <a:t>E</a:t>
            </a:r>
            <a:r>
              <a:rPr dirty="0"/>
              <a:t>xcelitas Technologies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01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Bulleted List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00200"/>
            <a:ext cx="8229600" cy="25146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1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Wingdings" panose="05000000000000000000" pitchFamily="2" charset="2"/>
              <a:buChar char="§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ourier New" panose="02070309020205020404" pitchFamily="49" charset="0"/>
              <a:buChar char="o"/>
              <a:defRPr sz="1600" baseline="0">
                <a:latin typeface="Calibri" panose="020F0502020204030204" pitchFamily="34" charset="0"/>
              </a:defRPr>
            </a:lvl4pPr>
            <a:lvl5pPr>
              <a:buClr>
                <a:srgbClr val="339933"/>
              </a:buClr>
              <a:buSzPct val="110000"/>
              <a:defRPr sz="1400" baseline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34317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Two Column Layout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1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1800" baseline="0">
                <a:latin typeface="Calibri" panose="020F0502020204030204" pitchFamily="34" charset="0"/>
              </a:defRPr>
            </a:lvl4pPr>
            <a:lvl5pPr marL="20574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»"/>
              <a:defRPr sz="1800" baseline="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1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1800" baseline="0">
                <a:latin typeface="Calibri" panose="020F0502020204030204" pitchFamily="34" charset="0"/>
              </a:defRPr>
            </a:lvl4pPr>
            <a:lvl5pPr marL="20574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»"/>
              <a:defRPr sz="1800" baseline="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47622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Column Layout w/ Heading and Objects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Column 1 Heading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9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Column 2 Heading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57200" y="2286000"/>
            <a:ext cx="4038600" cy="32004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0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1800" baseline="0">
                <a:latin typeface="Calibri" panose="020F0502020204030204" pitchFamily="34" charset="0"/>
              </a:defRPr>
            </a:lvl4pPr>
            <a:lvl5pPr marL="20574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»"/>
              <a:defRPr sz="1800" baseline="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648200" y="2286000"/>
            <a:ext cx="4038600" cy="32004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0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1800" baseline="0">
                <a:latin typeface="Calibri" panose="020F0502020204030204" pitchFamily="34" charset="0"/>
              </a:defRPr>
            </a:lvl4pPr>
            <a:lvl5pPr marL="20574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»"/>
              <a:defRPr sz="1800" baseline="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60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4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800" b="1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Column Header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4" y="1435103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Text Box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343400" y="914401"/>
            <a:ext cx="4038600" cy="51816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800" b="1" i="0" baseline="0">
                <a:latin typeface="Calibri" panose="020F0502020204030204" pitchFamily="34" charset="0"/>
              </a:defRPr>
            </a:lvl1pPr>
            <a:lvl2pPr marL="742950" indent="-28575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2400" baseline="0">
                <a:latin typeface="Calibri" panose="020F0502020204030204" pitchFamily="34" charset="0"/>
              </a:defRPr>
            </a:lvl2pPr>
            <a:lvl3pPr marL="11430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•"/>
              <a:defRPr sz="2000" baseline="0">
                <a:latin typeface="Calibri" panose="020F0502020204030204" pitchFamily="34" charset="0"/>
              </a:defRPr>
            </a:lvl3pPr>
            <a:lvl4pPr marL="16002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–"/>
              <a:defRPr sz="1800" baseline="0">
                <a:latin typeface="Calibri" panose="020F0502020204030204" pitchFamily="34" charset="0"/>
              </a:defRPr>
            </a:lvl4pPr>
            <a:lvl5pPr marL="2057400" indent="-228600">
              <a:buClr>
                <a:srgbClr val="339933"/>
              </a:buClr>
              <a:buSzPct val="110000"/>
              <a:buFont typeface="Calibri" panose="020F0502020204030204" pitchFamily="34" charset="0"/>
              <a:buChar char="»"/>
              <a:defRPr sz="1800" baseline="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39783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1985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4582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61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Helvetica" pitchFamily="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▪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-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9347A"/>
        </a:buClr>
        <a:buSzPct val="150000"/>
        <a:buFont typeface="Times New Roman" pitchFamily="18" charset="0"/>
        <a:buChar char="■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20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649" r:id="rId20"/>
    <p:sldLayoutId id="2147483661" r:id="rId21"/>
    <p:sldLayoutId id="2147483652" r:id="rId22"/>
    <p:sldLayoutId id="2147483653" r:id="rId23"/>
    <p:sldLayoutId id="2147483656" r:id="rId24"/>
    <p:sldLayoutId id="2147483662" r:id="rId25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jpeg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5" Type="http://schemas.openxmlformats.org/officeDocument/2006/relationships/image" Target="../media/image21.JPG"/><Relationship Id="rId10" Type="http://schemas.openxmlformats.org/officeDocument/2006/relationships/image" Target="../media/image26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1752600"/>
            <a:ext cx="5638800" cy="2357723"/>
          </a:xfrm>
        </p:spPr>
        <p:txBody>
          <a:bodyPr/>
          <a:lstStyle/>
          <a:p>
            <a:pPr algn="ctr"/>
            <a:r>
              <a:rPr lang="en-US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JUDUL PROJECT :</a:t>
            </a:r>
          </a:p>
          <a:p>
            <a:pPr algn="ctr"/>
            <a:r>
              <a:rPr lang="en-US" sz="3600" dirty="0" err="1">
                <a:latin typeface="Berlin Sans FB" panose="020E0602020502020306" pitchFamily="34" charset="0"/>
              </a:rPr>
              <a:t>Banyaknya</a:t>
            </a:r>
            <a:r>
              <a:rPr lang="en-US" sz="3600" dirty="0">
                <a:latin typeface="Berlin Sans FB" panose="020E0602020502020306" pitchFamily="34" charset="0"/>
              </a:rPr>
              <a:t> reject peel off plating L8467 di </a:t>
            </a:r>
            <a:r>
              <a:rPr lang="en-US" sz="3600" dirty="0" err="1">
                <a:latin typeface="Berlin Sans FB" panose="020E0602020502020306" pitchFamily="34" charset="0"/>
              </a:rPr>
              <a:t>Lumenis</a:t>
            </a:r>
            <a:r>
              <a:rPr lang="en-US" sz="3600" dirty="0">
                <a:latin typeface="Berlin Sans FB" panose="020E0602020502020306" pitchFamily="34" charset="0"/>
              </a:rPr>
              <a:t> Customer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191000" y="4419886"/>
            <a:ext cx="3962400" cy="457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              </a:t>
            </a:r>
            <a:r>
              <a:rPr lang="en-US" b="1" dirty="0">
                <a:latin typeface="+mj-lt"/>
                <a:cs typeface="Aharoni" panose="02010803020104030203" pitchFamily="2" charset="-79"/>
              </a:rPr>
              <a:t>January 2024</a:t>
            </a:r>
          </a:p>
          <a:p>
            <a:endParaRPr lang="en-US" sz="1800" b="1" dirty="0"/>
          </a:p>
          <a:p>
            <a:endParaRPr lang="en-US" sz="1200" b="1" dirty="0"/>
          </a:p>
          <a:p>
            <a:endParaRPr lang="en-US" sz="1200" b="1" dirty="0"/>
          </a:p>
        </p:txBody>
      </p:sp>
      <p:sp>
        <p:nvSpPr>
          <p:cNvPr id="5" name="Rectangle 4"/>
          <p:cNvSpPr/>
          <p:nvPr/>
        </p:nvSpPr>
        <p:spPr>
          <a:xfrm>
            <a:off x="4563950" y="3884169"/>
            <a:ext cx="274184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By QA </a:t>
            </a:r>
            <a:r>
              <a:rPr lang="en-US" sz="40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202954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163115" y="95533"/>
            <a:ext cx="560246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sz="2800" b="1" i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Team dan </a:t>
            </a:r>
            <a:r>
              <a:rPr lang="en-US" sz="2800" b="1" i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Deskripsi</a:t>
            </a:r>
            <a:r>
              <a:rPr lang="en-US" sz="2800" b="1" i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 Project</a:t>
            </a:r>
            <a:endParaRPr kumimoji="0" lang="en-US" sz="2800" b="1" i="1" u="none" strike="noStrike" kern="0" normalizeH="0" baseline="0" noProof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3695700" y="914400"/>
            <a:ext cx="1866870" cy="276999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 b="1" dirty="0">
                <a:solidFill>
                  <a:schemeClr val="bg1"/>
                </a:solidFill>
                <a:ea typeface="ＭＳ Ｐゴシック" pitchFamily="34" charset="-128"/>
              </a:rPr>
              <a:t>TEAM INTRODUCTION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533400" y="2870585"/>
            <a:ext cx="2438400" cy="307777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bg1"/>
                </a:solidFill>
                <a:ea typeface="ＭＳ Ｐゴシック" pitchFamily="34" charset="-128"/>
              </a:rPr>
              <a:t>DESKRIPSI PROJECT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57200" y="16662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DEFINE</a:t>
            </a:r>
          </a:p>
        </p:txBody>
      </p:sp>
      <p:graphicFrame>
        <p:nvGraphicFramePr>
          <p:cNvPr id="43" name="Diagram 42"/>
          <p:cNvGraphicFramePr/>
          <p:nvPr>
            <p:extLst>
              <p:ext uri="{D42A27DB-BD31-4B8C-83A1-F6EECF244321}">
                <p14:modId xmlns:p14="http://schemas.microsoft.com/office/powerpoint/2010/main" val="576768553"/>
              </p:ext>
            </p:extLst>
          </p:nvPr>
        </p:nvGraphicFramePr>
        <p:xfrm>
          <a:off x="457200" y="2590800"/>
          <a:ext cx="647700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" name="Frame 43"/>
          <p:cNvSpPr/>
          <p:nvPr/>
        </p:nvSpPr>
        <p:spPr>
          <a:xfrm>
            <a:off x="7010400" y="3178362"/>
            <a:ext cx="1905000" cy="2917638"/>
          </a:xfrm>
          <a:prstGeom prst="frame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r>
              <a:rPr lang="en-US" sz="1400" dirty="0" err="1">
                <a:solidFill>
                  <a:srgbClr val="0000FF"/>
                </a:solidFill>
                <a:latin typeface="Berlin Sans FB" panose="020E0602020502020306" pitchFamily="34" charset="0"/>
              </a:rPr>
              <a:t>Banyaknya</a:t>
            </a:r>
            <a:r>
              <a:rPr lang="en-US" sz="1400" dirty="0">
                <a:solidFill>
                  <a:srgbClr val="0000FF"/>
                </a:solidFill>
                <a:latin typeface="Berlin Sans FB" panose="020E0602020502020306" pitchFamily="34" charset="0"/>
              </a:rPr>
              <a:t> reject peel off plating L8467 di </a:t>
            </a:r>
            <a:r>
              <a:rPr lang="en-US" sz="1400" dirty="0" err="1">
                <a:solidFill>
                  <a:srgbClr val="0000FF"/>
                </a:solidFill>
                <a:latin typeface="Berlin Sans FB" panose="020E0602020502020306" pitchFamily="34" charset="0"/>
              </a:rPr>
              <a:t>Lumenis</a:t>
            </a:r>
            <a:r>
              <a:rPr lang="en-US" sz="1400" dirty="0">
                <a:solidFill>
                  <a:srgbClr val="0000FF"/>
                </a:solidFill>
                <a:latin typeface="Berlin Sans FB" panose="020E0602020502020306" pitchFamily="34" charset="0"/>
              </a:rPr>
              <a:t> Customer</a:t>
            </a: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sz="1400" dirty="0">
              <a:solidFill>
                <a:srgbClr val="0000FF"/>
              </a:solidFill>
              <a:latin typeface="Berlin Sans FB" panose="020E0602020502020306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9" t="53819" r="48368" b="36323"/>
          <a:stretch/>
        </p:blipFill>
        <p:spPr>
          <a:xfrm rot="5400000">
            <a:off x="7169074" y="4846048"/>
            <a:ext cx="1027302" cy="47907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4" t="52158" r="50216" b="38135"/>
          <a:stretch/>
        </p:blipFill>
        <p:spPr>
          <a:xfrm rot="5400000">
            <a:off x="7745802" y="4901016"/>
            <a:ext cx="1039393" cy="38136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7364057" y="5564938"/>
            <a:ext cx="560743" cy="282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Peel Off Plating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74552" y="5564938"/>
            <a:ext cx="560743" cy="282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0000FF"/>
                </a:solidFill>
              </a:rPr>
              <a:t>OK Plating</a:t>
            </a:r>
          </a:p>
        </p:txBody>
      </p:sp>
      <p:sp>
        <p:nvSpPr>
          <p:cNvPr id="55" name="Oval 54"/>
          <p:cNvSpPr/>
          <p:nvPr/>
        </p:nvSpPr>
        <p:spPr>
          <a:xfrm>
            <a:off x="7615597" y="4648200"/>
            <a:ext cx="233003" cy="2286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148996" y="4623410"/>
            <a:ext cx="233003" cy="228600"/>
          </a:xfrm>
          <a:prstGeom prst="ellipse">
            <a:avLst/>
          </a:prstGeom>
          <a:noFill/>
          <a:ln w="31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7" name="Diagram 66"/>
          <p:cNvGraphicFramePr/>
          <p:nvPr>
            <p:extLst>
              <p:ext uri="{D42A27DB-BD31-4B8C-83A1-F6EECF244321}">
                <p14:modId xmlns:p14="http://schemas.microsoft.com/office/powerpoint/2010/main" val="1402780750"/>
              </p:ext>
            </p:extLst>
          </p:nvPr>
        </p:nvGraphicFramePr>
        <p:xfrm>
          <a:off x="2143631" y="1300384"/>
          <a:ext cx="4971008" cy="145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414279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DEFINE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286000" y="308573"/>
            <a:ext cx="5715000" cy="5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sz="2400" i="0" dirty="0" err="1">
                <a:latin typeface="Goudy Stout" panose="0202090407030B020401" pitchFamily="18" charset="0"/>
              </a:rPr>
              <a:t>Membuat</a:t>
            </a:r>
            <a:r>
              <a:rPr lang="en-US" sz="2400" i="0" dirty="0">
                <a:latin typeface="Goudy Stout" panose="0202090407030B020401" pitchFamily="18" charset="0"/>
              </a:rPr>
              <a:t> Schedule</a:t>
            </a:r>
          </a:p>
        </p:txBody>
      </p:sp>
      <p:sp>
        <p:nvSpPr>
          <p:cNvPr id="7" name="Cloud Callout 6"/>
          <p:cNvSpPr/>
          <p:nvPr/>
        </p:nvSpPr>
        <p:spPr>
          <a:xfrm>
            <a:off x="1066800" y="5410200"/>
            <a:ext cx="865038" cy="457200"/>
          </a:xfrm>
          <a:prstGeom prst="cloudCallout">
            <a:avLst>
              <a:gd name="adj1" fmla="val -46304"/>
              <a:gd name="adj2" fmla="val -6688"/>
            </a:avLst>
          </a:prstGeom>
          <a:solidFill>
            <a:srgbClr val="FF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NOTE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40836"/>
            <a:ext cx="7696200" cy="4298156"/>
          </a:xfrm>
          <a:prstGeom prst="rect">
            <a:avLst/>
          </a:prstGeom>
        </p:spPr>
      </p:pic>
      <p:sp>
        <p:nvSpPr>
          <p:cNvPr id="3" name="Down Ribbon 2"/>
          <p:cNvSpPr/>
          <p:nvPr/>
        </p:nvSpPr>
        <p:spPr>
          <a:xfrm>
            <a:off x="1676400" y="5288338"/>
            <a:ext cx="6476999" cy="838200"/>
          </a:xfrm>
          <a:prstGeom prst="ribbon">
            <a:avLst>
              <a:gd name="adj1" fmla="val 16667"/>
              <a:gd name="adj2" fmla="val 71091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komitmen</a:t>
            </a:r>
            <a:r>
              <a:rPr lang="en-US" sz="1200" dirty="0"/>
              <a:t> yang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anggota</a:t>
            </a:r>
            <a:r>
              <a:rPr lang="en-US" sz="1200" dirty="0"/>
              <a:t> </a:t>
            </a:r>
            <a:r>
              <a:rPr lang="en-US" sz="1200" dirty="0" err="1"/>
              <a:t>tim</a:t>
            </a:r>
            <a:r>
              <a:rPr lang="en-US" sz="1200" dirty="0"/>
              <a:t> &amp; </a:t>
            </a:r>
            <a:r>
              <a:rPr lang="en-US" sz="1200" dirty="0" err="1"/>
              <a:t>dukungan</a:t>
            </a:r>
            <a:r>
              <a:rPr lang="en-US" sz="1200" dirty="0"/>
              <a:t> yang </a:t>
            </a:r>
            <a:r>
              <a:rPr lang="en-US" sz="1200" dirty="0" err="1"/>
              <a:t>kuat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rgbClr val="6600FF"/>
                </a:solidFill>
              </a:rPr>
              <a:t>Managemen</a:t>
            </a:r>
            <a:r>
              <a:rPr lang="id-ID" sz="1200" b="1" dirty="0">
                <a:solidFill>
                  <a:srgbClr val="6600FF"/>
                </a:solidFill>
              </a:rPr>
              <a:t>, </a:t>
            </a:r>
            <a:r>
              <a:rPr lang="en-US" sz="1200" dirty="0"/>
              <a:t>Tim </a:t>
            </a:r>
            <a:r>
              <a:rPr lang="en-US" sz="1200" dirty="0" err="1"/>
              <a:t>mengatur</a:t>
            </a:r>
            <a:r>
              <a:rPr lang="en-US" sz="1200" dirty="0"/>
              <a:t> agar </a:t>
            </a:r>
            <a:r>
              <a:rPr lang="en-US" sz="1200" dirty="0" err="1"/>
              <a:t>menyelesaikan</a:t>
            </a:r>
            <a:r>
              <a:rPr lang="en-US" sz="1200" dirty="0"/>
              <a:t>  pro</a:t>
            </a:r>
            <a:r>
              <a:rPr lang="id-ID" sz="1200" dirty="0"/>
              <a:t>ject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rgbClr val="0000FF"/>
                </a:solidFill>
              </a:rPr>
              <a:t>tepat</a:t>
            </a:r>
            <a:r>
              <a:rPr lang="en-US" sz="1200" b="1" dirty="0">
                <a:solidFill>
                  <a:srgbClr val="0000FF"/>
                </a:solidFill>
              </a:rPr>
              <a:t> </a:t>
            </a:r>
            <a:r>
              <a:rPr lang="en-US" sz="1200" b="1" dirty="0" err="1">
                <a:solidFill>
                  <a:srgbClr val="0000FF"/>
                </a:solidFill>
              </a:rPr>
              <a:t>waktu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terlihat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jadwal</a:t>
            </a:r>
            <a:r>
              <a:rPr lang="en-US" sz="1200" dirty="0"/>
              <a:t>  </a:t>
            </a:r>
            <a:r>
              <a:rPr lang="en-US" sz="1200" dirty="0" err="1"/>
              <a:t>pengerjaan</a:t>
            </a:r>
            <a:r>
              <a:rPr lang="en-US" sz="1200" dirty="0"/>
              <a:t> pro</a:t>
            </a:r>
            <a:r>
              <a:rPr lang="id-ID" sz="1200" dirty="0"/>
              <a:t>ject</a:t>
            </a:r>
            <a:r>
              <a:rPr lang="en-US" sz="1200" dirty="0"/>
              <a:t> di</a:t>
            </a:r>
            <a:r>
              <a:rPr lang="id-ID" sz="1200" dirty="0"/>
              <a:t> </a:t>
            </a:r>
            <a:r>
              <a:rPr lang="en-US" sz="1200" dirty="0" err="1"/>
              <a:t>atas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228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DEFINE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286001" y="159227"/>
            <a:ext cx="5715000" cy="5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sz="2400" dirty="0"/>
              <a:t>Data Sebelum Perbaikan dan Pareto Analysis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28600" y="838201"/>
            <a:ext cx="8610600" cy="5257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228603" y="838202"/>
            <a:ext cx="2971801" cy="307777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bg1"/>
                </a:solidFill>
                <a:ea typeface="ＭＳ Ｐゴシック" pitchFamily="34" charset="-128"/>
              </a:rPr>
              <a:t>DATA SEBELUM PERBAIKAN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0745" y="1190775"/>
            <a:ext cx="5410200" cy="3018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CUSTOMER RETURN LAMP CUSTOMER GERMANY 2023</a:t>
            </a:r>
          </a:p>
        </p:txBody>
      </p:sp>
      <p:sp>
        <p:nvSpPr>
          <p:cNvPr id="18" name="Down Ribbon 17"/>
          <p:cNvSpPr/>
          <p:nvPr/>
        </p:nvSpPr>
        <p:spPr>
          <a:xfrm>
            <a:off x="732130" y="4441912"/>
            <a:ext cx="7391399" cy="1577888"/>
          </a:xfrm>
          <a:prstGeom prst="ribbon">
            <a:avLst>
              <a:gd name="adj1" fmla="val 16667"/>
              <a:gd name="adj2" fmla="val 71091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rgbClr val="0000FF"/>
                </a:solidFill>
              </a:rPr>
              <a:t>ANALISA DATA: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0000FF"/>
                </a:solidFill>
              </a:rPr>
              <a:t>Dari data </a:t>
            </a:r>
            <a:r>
              <a:rPr lang="en-US" sz="1100" dirty="0" err="1">
                <a:solidFill>
                  <a:srgbClr val="0000FF"/>
                </a:solidFill>
              </a:rPr>
              <a:t>lampu</a:t>
            </a:r>
            <a:r>
              <a:rPr lang="en-US" sz="1100" dirty="0">
                <a:solidFill>
                  <a:srgbClr val="0000FF"/>
                </a:solidFill>
              </a:rPr>
              <a:t> return customer </a:t>
            </a:r>
            <a:r>
              <a:rPr lang="en-US" sz="1100" dirty="0" err="1">
                <a:solidFill>
                  <a:srgbClr val="0000FF"/>
                </a:solidFill>
              </a:rPr>
              <a:t>Jerman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ada</a:t>
            </a:r>
            <a:r>
              <a:rPr lang="en-US" sz="1100" dirty="0">
                <a:solidFill>
                  <a:srgbClr val="0000FF"/>
                </a:solidFill>
              </a:rPr>
              <a:t> 4 customer yang complain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 err="1">
                <a:solidFill>
                  <a:srgbClr val="0000FF"/>
                </a:solidFill>
              </a:rPr>
              <a:t>Sharplight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adalah</a:t>
            </a:r>
            <a:r>
              <a:rPr lang="en-US" sz="1100" dirty="0">
                <a:solidFill>
                  <a:srgbClr val="0000FF"/>
                </a:solidFill>
              </a:rPr>
              <a:t> customer </a:t>
            </a:r>
            <a:r>
              <a:rPr lang="en-US" sz="1100" dirty="0" err="1">
                <a:solidFill>
                  <a:srgbClr val="0000FF"/>
                </a:solidFill>
              </a:rPr>
              <a:t>dengan</a:t>
            </a:r>
            <a:r>
              <a:rPr lang="en-US" sz="1100" dirty="0">
                <a:solidFill>
                  <a:srgbClr val="0000FF"/>
                </a:solidFill>
              </a:rPr>
              <a:t> RMA case </a:t>
            </a:r>
            <a:r>
              <a:rPr lang="en-US" sz="1100" dirty="0" err="1">
                <a:solidFill>
                  <a:srgbClr val="0000FF"/>
                </a:solidFill>
              </a:rPr>
              <a:t>tertinggi</a:t>
            </a:r>
            <a:r>
              <a:rPr lang="en-US" sz="1100" dirty="0">
                <a:solidFill>
                  <a:srgbClr val="0000FF"/>
                </a:solidFill>
              </a:rPr>
              <a:t>, </a:t>
            </a:r>
            <a:r>
              <a:rPr lang="en-US" sz="1100" dirty="0" err="1">
                <a:solidFill>
                  <a:srgbClr val="0000FF"/>
                </a:solidFill>
              </a:rPr>
              <a:t>tetapi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Lumenis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merupakan</a:t>
            </a:r>
            <a:r>
              <a:rPr lang="en-US" sz="1100" dirty="0">
                <a:solidFill>
                  <a:srgbClr val="0000FF"/>
                </a:solidFill>
              </a:rPr>
              <a:t> customer </a:t>
            </a:r>
            <a:r>
              <a:rPr lang="en-US" sz="1100" dirty="0" err="1">
                <a:solidFill>
                  <a:srgbClr val="0000FF"/>
                </a:solidFill>
              </a:rPr>
              <a:t>dengan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qty</a:t>
            </a:r>
            <a:r>
              <a:rPr lang="en-US" sz="1100" dirty="0">
                <a:solidFill>
                  <a:srgbClr val="0000FF"/>
                </a:solidFill>
              </a:rPr>
              <a:t> Defect </a:t>
            </a:r>
            <a:r>
              <a:rPr lang="en-US" sz="1100" dirty="0" err="1">
                <a:solidFill>
                  <a:srgbClr val="0000FF"/>
                </a:solidFill>
              </a:rPr>
              <a:t>terbanyak</a:t>
            </a:r>
            <a:endParaRPr lang="en-US" sz="1100" dirty="0">
              <a:solidFill>
                <a:srgbClr val="0000FF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0000FF"/>
                </a:solidFill>
              </a:rPr>
              <a:t>Dari reason return device L8467 </a:t>
            </a:r>
            <a:r>
              <a:rPr lang="en-US" sz="1100" dirty="0" err="1">
                <a:solidFill>
                  <a:srgbClr val="0000FF"/>
                </a:solidFill>
              </a:rPr>
              <a:t>merupakan</a:t>
            </a:r>
            <a:r>
              <a:rPr lang="en-US" sz="1100" dirty="0">
                <a:solidFill>
                  <a:srgbClr val="0000FF"/>
                </a:solidFill>
              </a:rPr>
              <a:t> device </a:t>
            </a:r>
            <a:r>
              <a:rPr lang="en-US" sz="1100" dirty="0" err="1">
                <a:solidFill>
                  <a:srgbClr val="0000FF"/>
                </a:solidFill>
              </a:rPr>
              <a:t>dengan</a:t>
            </a:r>
            <a:r>
              <a:rPr lang="en-US" sz="1100" dirty="0">
                <a:solidFill>
                  <a:srgbClr val="0000FF"/>
                </a:solidFill>
              </a:rPr>
              <a:t> issue yang </a:t>
            </a:r>
            <a:r>
              <a:rPr lang="en-US" sz="1100" dirty="0" err="1">
                <a:solidFill>
                  <a:srgbClr val="0000FF"/>
                </a:solidFill>
              </a:rPr>
              <a:t>sama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dari</a:t>
            </a:r>
            <a:r>
              <a:rPr lang="en-US" sz="1100" dirty="0">
                <a:solidFill>
                  <a:srgbClr val="0000FF"/>
                </a:solidFill>
              </a:rPr>
              <a:t> 3 case RMA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0000FF"/>
                </a:solidFill>
              </a:rPr>
              <a:t>Team </a:t>
            </a:r>
            <a:r>
              <a:rPr lang="en-US" sz="1100" dirty="0" err="1">
                <a:solidFill>
                  <a:srgbClr val="0000FF"/>
                </a:solidFill>
              </a:rPr>
              <a:t>berfokus</a:t>
            </a:r>
            <a:r>
              <a:rPr lang="en-US" sz="1100" dirty="0">
                <a:solidFill>
                  <a:srgbClr val="0000FF"/>
                </a:solidFill>
              </a:rPr>
              <a:t> </a:t>
            </a:r>
            <a:r>
              <a:rPr lang="en-US" sz="1100" dirty="0" err="1">
                <a:solidFill>
                  <a:srgbClr val="0000FF"/>
                </a:solidFill>
              </a:rPr>
              <a:t>pada</a:t>
            </a:r>
            <a:r>
              <a:rPr lang="en-US" sz="1100" dirty="0">
                <a:solidFill>
                  <a:srgbClr val="0000FF"/>
                </a:solidFill>
              </a:rPr>
              <a:t> device L8467 </a:t>
            </a:r>
            <a:r>
              <a:rPr lang="en-US" sz="1100" dirty="0" err="1">
                <a:solidFill>
                  <a:srgbClr val="0000FF"/>
                </a:solidFill>
              </a:rPr>
              <a:t>karena</a:t>
            </a:r>
            <a:r>
              <a:rPr lang="en-US" sz="1100" dirty="0">
                <a:solidFill>
                  <a:srgbClr val="0000FF"/>
                </a:solidFill>
              </a:rPr>
              <a:t> reason return related </a:t>
            </a:r>
            <a:r>
              <a:rPr lang="en-US" sz="1100" dirty="0" err="1">
                <a:solidFill>
                  <a:srgbClr val="0000FF"/>
                </a:solidFill>
              </a:rPr>
              <a:t>dengan</a:t>
            </a:r>
            <a:r>
              <a:rPr lang="en-US" sz="1100" dirty="0">
                <a:solidFill>
                  <a:srgbClr val="0000FF"/>
                </a:solidFill>
              </a:rPr>
              <a:t> visual inspection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88" y="1514907"/>
            <a:ext cx="7458914" cy="290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2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DEFINE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286001" y="159227"/>
            <a:ext cx="5715000" cy="5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sz="2400" dirty="0"/>
              <a:t>Data Sebelum Perbaikan dan Pareto Analysis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28600" y="838201"/>
            <a:ext cx="8610600" cy="5257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228603" y="838202"/>
            <a:ext cx="2971801" cy="307777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bg1"/>
                </a:solidFill>
                <a:ea typeface="ＭＳ Ｐゴシック" pitchFamily="34" charset="-128"/>
              </a:rPr>
              <a:t>DATA SEBELUM PERBAIKAN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1257154"/>
            <a:ext cx="2950325" cy="304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PIE CHART CUSTOMER RETURN FROM JERMAN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3129"/>
            <a:ext cx="4343400" cy="3622491"/>
          </a:xfrm>
          <a:prstGeom prst="rect">
            <a:avLst/>
          </a:prstGeom>
        </p:spPr>
      </p:pic>
      <p:sp>
        <p:nvSpPr>
          <p:cNvPr id="3" name="Vertical Scroll 2"/>
          <p:cNvSpPr/>
          <p:nvPr/>
        </p:nvSpPr>
        <p:spPr>
          <a:xfrm>
            <a:off x="4953000" y="1613275"/>
            <a:ext cx="3733800" cy="3774891"/>
          </a:xfrm>
          <a:prstGeom prst="verticalScroll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ANALISA PIE CHART: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Pie chart di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samping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adalah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pie chart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jumlah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qty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lampu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return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dari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customer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german</a:t>
            </a:r>
            <a:endParaRPr lang="en-US" sz="1400" dirty="0">
              <a:solidFill>
                <a:srgbClr val="0000FF"/>
              </a:solidFill>
              <a:latin typeface="Centaur" panose="020305040502050203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Tahun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2023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ada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4 customer yang feedback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ke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Excelitas related quality issue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Customer LUMENIS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merupakan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customer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dengan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qty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terbanyak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mengembalikan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atau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return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lampu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yaitu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sebesar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44%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Team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sepakat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untuk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menindaklanjuti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issue yang di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kembalikan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Lumenis</a:t>
            </a:r>
            <a:r>
              <a:rPr lang="en-US" sz="1400" dirty="0">
                <a:solidFill>
                  <a:srgbClr val="0000FF"/>
                </a:solidFill>
                <a:latin typeface="Centaur" panose="02030504050205020304" pitchFamily="18" charset="0"/>
                <a:ea typeface="Cambria" panose="02040503050406030204" pitchFamily="18" charset="0"/>
              </a:rPr>
              <a:t> Customer </a:t>
            </a:r>
          </a:p>
          <a:p>
            <a:pPr algn="ctr"/>
            <a:endParaRPr lang="en-US" dirty="0">
              <a:solidFill>
                <a:srgbClr val="0000FF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3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DEFINE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286001" y="159227"/>
            <a:ext cx="5715000" cy="5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sz="2400" dirty="0"/>
              <a:t>Data Sebelum Perbaikan dan Pareto Analysis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28600" y="838201"/>
            <a:ext cx="8610600" cy="51815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228603" y="838202"/>
            <a:ext cx="2971801" cy="307777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bg1"/>
                </a:solidFill>
                <a:ea typeface="ＭＳ Ｐゴシック" pitchFamily="34" charset="-128"/>
              </a:rPr>
              <a:t>DATA SEBELUM PERBAIKAN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1261409"/>
            <a:ext cx="3488775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DATA DEFECT LAMP RMA L8467 DI TAHUN 2023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98" y="1637884"/>
            <a:ext cx="4562002" cy="3249450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5115398" y="1641556"/>
            <a:ext cx="3571402" cy="3245778"/>
          </a:xfrm>
          <a:prstGeom prst="homePlat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latin typeface="Georgia" panose="02040502050405020303" pitchFamily="18" charset="0"/>
              </a:rPr>
              <a:t>ANALISA PARETO: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Georgia" panose="02040502050405020303" pitchFamily="18" charset="0"/>
              </a:rPr>
              <a:t>Pareto di </a:t>
            </a:r>
            <a:r>
              <a:rPr lang="en-US" sz="1400" dirty="0" err="1">
                <a:latin typeface="Georgia" panose="02040502050405020303" pitchFamily="18" charset="0"/>
              </a:rPr>
              <a:t>samping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merupakan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pareto</a:t>
            </a:r>
            <a:r>
              <a:rPr lang="en-US" sz="1400" dirty="0">
                <a:latin typeface="Georgia" panose="02040502050405020303" pitchFamily="18" charset="0"/>
              </a:rPr>
              <a:t> lamp return customer </a:t>
            </a:r>
            <a:r>
              <a:rPr lang="en-US" sz="1400" dirty="0" err="1">
                <a:latin typeface="Georgia" panose="02040502050405020303" pitchFamily="18" charset="0"/>
              </a:rPr>
              <a:t>Lumenis</a:t>
            </a: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Georgia" panose="02040502050405020303" pitchFamily="18" charset="0"/>
              </a:rPr>
              <a:t>Dari </a:t>
            </a:r>
            <a:r>
              <a:rPr lang="en-US" sz="1400" dirty="0" err="1">
                <a:latin typeface="Georgia" panose="02040502050405020303" pitchFamily="18" charset="0"/>
              </a:rPr>
              <a:t>semua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lampu</a:t>
            </a:r>
            <a:r>
              <a:rPr lang="en-US" sz="1400" dirty="0">
                <a:latin typeface="Georgia" panose="02040502050405020303" pitchFamily="18" charset="0"/>
              </a:rPr>
              <a:t> yang di return </a:t>
            </a:r>
            <a:r>
              <a:rPr lang="en-US" sz="1400" dirty="0" err="1">
                <a:latin typeface="Georgia" panose="02040502050405020303" pitchFamily="18" charset="0"/>
              </a:rPr>
              <a:t>Lumenis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ada</a:t>
            </a:r>
            <a:r>
              <a:rPr lang="en-US" sz="1400" dirty="0">
                <a:latin typeface="Georgia" panose="02040502050405020303" pitchFamily="18" charset="0"/>
              </a:rPr>
              <a:t> 2 defect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Georgia" panose="02040502050405020303" pitchFamily="18" charset="0"/>
              </a:rPr>
              <a:t>Defect Peel Off </a:t>
            </a:r>
            <a:r>
              <a:rPr lang="en-US" sz="1400" dirty="0" err="1">
                <a:latin typeface="Georgia" panose="02040502050405020303" pitchFamily="18" charset="0"/>
              </a:rPr>
              <a:t>Palting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merupakan</a:t>
            </a:r>
            <a:r>
              <a:rPr lang="en-US" sz="1400" dirty="0">
                <a:latin typeface="Georgia" panose="02040502050405020303" pitchFamily="18" charset="0"/>
              </a:rPr>
              <a:t> defect return </a:t>
            </a:r>
            <a:r>
              <a:rPr lang="en-US" sz="1400" dirty="0" err="1">
                <a:latin typeface="Georgia" panose="02040502050405020303" pitchFamily="18" charset="0"/>
              </a:rPr>
              <a:t>tertinggi</a:t>
            </a: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Georgia" panose="02040502050405020303" pitchFamily="18" charset="0"/>
              </a:rPr>
              <a:t>Team </a:t>
            </a:r>
            <a:r>
              <a:rPr lang="en-US" sz="1400" dirty="0" err="1">
                <a:latin typeface="Georgia" panose="02040502050405020303" pitchFamily="18" charset="0"/>
              </a:rPr>
              <a:t>Fokus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untuk</a:t>
            </a:r>
            <a:r>
              <a:rPr lang="en-US" sz="1400" dirty="0">
                <a:latin typeface="Georgia" panose="02040502050405020303" pitchFamily="18" charset="0"/>
              </a:rPr>
              <a:t> </a:t>
            </a:r>
            <a:r>
              <a:rPr lang="en-US" sz="1400" dirty="0" err="1">
                <a:latin typeface="Georgia" panose="02040502050405020303" pitchFamily="18" charset="0"/>
              </a:rPr>
              <a:t>menindaklanjuti</a:t>
            </a:r>
            <a:r>
              <a:rPr lang="en-US" sz="1400" dirty="0">
                <a:latin typeface="Georgia" panose="02040502050405020303" pitchFamily="18" charset="0"/>
              </a:rPr>
              <a:t> defect </a:t>
            </a:r>
            <a:r>
              <a:rPr lang="en-US" sz="1400" dirty="0" err="1">
                <a:latin typeface="Georgia" panose="02040502050405020303" pitchFamily="18" charset="0"/>
              </a:rPr>
              <a:t>tersebut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69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MEASURE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152400" y="838201"/>
            <a:ext cx="8839200" cy="51815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3138300" y="127240"/>
            <a:ext cx="4386943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i="1" dirty="0">
                <a:ln w="19050">
                  <a:solidFill>
                    <a:srgbClr val="008000"/>
                  </a:solidFill>
                  <a:prstDash val="solid"/>
                  <a:miter lim="800000"/>
                </a:ln>
                <a:solidFill>
                  <a:srgbClr val="92D05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SIPOC  Diagram</a:t>
            </a:r>
            <a:endParaRPr lang="en-US" sz="4000" b="1" dirty="0">
              <a:solidFill>
                <a:srgbClr val="92D050"/>
              </a:solidFill>
              <a:cs typeface="+mj-cs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1829441" y="1649659"/>
            <a:ext cx="477330" cy="42021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3789571" y="1621000"/>
            <a:ext cx="477330" cy="4202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5542470" y="1555542"/>
            <a:ext cx="477330" cy="42021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7395215" y="1621000"/>
            <a:ext cx="381000" cy="4202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50972"/>
            <a:ext cx="944442" cy="96027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915" y="1364870"/>
            <a:ext cx="1440905" cy="80155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403" y="1298447"/>
            <a:ext cx="1115997" cy="108311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282" y="1407847"/>
            <a:ext cx="1128601" cy="71560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628" y="1294744"/>
            <a:ext cx="1129772" cy="1086823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228600" y="2895600"/>
            <a:ext cx="1676400" cy="381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PT. </a:t>
            </a:r>
            <a:r>
              <a:rPr lang="en-US" sz="1200" b="1" dirty="0" err="1">
                <a:solidFill>
                  <a:schemeClr val="tx1"/>
                </a:solidFill>
              </a:rPr>
              <a:t>Prochem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err="1">
                <a:solidFill>
                  <a:schemeClr val="tx1"/>
                </a:solidFill>
              </a:rPr>
              <a:t>Tritama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28600" y="3365657"/>
            <a:ext cx="1676399" cy="37903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TEAMWORK AIRCON &amp; REFRIGERATIO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1" y="3835714"/>
            <a:ext cx="1676398" cy="381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Engineering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1" y="4359079"/>
            <a:ext cx="1676398" cy="381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Production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33966" y="2895600"/>
            <a:ext cx="1676400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NiSO4, NiCL2, Boric Acid, Ni-Anode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3966" y="3363692"/>
            <a:ext cx="1676400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SOLDER WIRE LF 95/5 TIN ANTIMONY 3.2MM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3600" y="3831784"/>
            <a:ext cx="1676400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Device spec L8467 &amp; WI Plating HB-WI-H21-707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8556" y="4359079"/>
            <a:ext cx="1676400" cy="381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Certified Operator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0481" y="2576660"/>
            <a:ext cx="1174719" cy="2344564"/>
          </a:xfrm>
          <a:prstGeom prst="roundRect">
            <a:avLst/>
          </a:prstGeom>
          <a:solidFill>
            <a:srgbClr val="00B05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Good </a:t>
            </a:r>
            <a:r>
              <a:rPr lang="id-ID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Quality </a:t>
            </a:r>
            <a:r>
              <a:rPr lang="en-US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Lamp After Ni Plating</a:t>
            </a:r>
          </a:p>
        </p:txBody>
      </p:sp>
      <p:sp>
        <p:nvSpPr>
          <p:cNvPr id="44" name="Flowchart: Delay 43"/>
          <p:cNvSpPr/>
          <p:nvPr/>
        </p:nvSpPr>
        <p:spPr>
          <a:xfrm>
            <a:off x="7543800" y="2576660"/>
            <a:ext cx="1371600" cy="2344564"/>
          </a:xfrm>
          <a:prstGeom prst="flowChartDelay">
            <a:avLst/>
          </a:prstGeom>
          <a:solidFill>
            <a:schemeClr val="accent3">
              <a:lumMod val="50000"/>
            </a:scheme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Lumenis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Customer</a:t>
            </a:r>
          </a:p>
        </p:txBody>
      </p:sp>
      <p:cxnSp>
        <p:nvCxnSpPr>
          <p:cNvPr id="45" name="Straight Arrow Connector 44"/>
          <p:cNvCxnSpPr>
            <a:stCxn id="34" idx="3"/>
            <a:endCxn id="38" idx="1"/>
          </p:cNvCxnSpPr>
          <p:nvPr/>
        </p:nvCxnSpPr>
        <p:spPr>
          <a:xfrm>
            <a:off x="1905000" y="3086100"/>
            <a:ext cx="228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9" idx="1"/>
          </p:cNvCxnSpPr>
          <p:nvPr/>
        </p:nvCxnSpPr>
        <p:spPr>
          <a:xfrm>
            <a:off x="1922046" y="3554192"/>
            <a:ext cx="211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40" idx="1"/>
          </p:cNvCxnSpPr>
          <p:nvPr/>
        </p:nvCxnSpPr>
        <p:spPr>
          <a:xfrm flipV="1">
            <a:off x="1906086" y="4022284"/>
            <a:ext cx="227514" cy="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1905000" y="4568952"/>
            <a:ext cx="227514" cy="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8" idx="3"/>
          </p:cNvCxnSpPr>
          <p:nvPr/>
        </p:nvCxnSpPr>
        <p:spPr>
          <a:xfrm>
            <a:off x="3810366" y="3086100"/>
            <a:ext cx="364690" cy="745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3"/>
          </p:cNvCxnSpPr>
          <p:nvPr/>
        </p:nvCxnSpPr>
        <p:spPr>
          <a:xfrm flipV="1">
            <a:off x="3814956" y="3831784"/>
            <a:ext cx="360100" cy="717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5903559" y="3711180"/>
            <a:ext cx="227514" cy="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316286" y="3730752"/>
            <a:ext cx="227514" cy="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28600" y="990600"/>
            <a:ext cx="1600841" cy="307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SUPPLIER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57467" y="983875"/>
            <a:ext cx="1600841" cy="307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INPUT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34332" y="978548"/>
            <a:ext cx="1600841" cy="307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PROCESS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91200" y="986896"/>
            <a:ext cx="1475683" cy="307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OUTPUT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67600" y="987552"/>
            <a:ext cx="1492490" cy="3078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Black" panose="020B0A04020102020204" pitchFamily="34" charset="0"/>
              </a:rPr>
              <a:t>CUSTOMER</a:t>
            </a:r>
          </a:p>
        </p:txBody>
      </p:sp>
      <p:sp>
        <p:nvSpPr>
          <p:cNvPr id="2" name="Oval 1"/>
          <p:cNvSpPr/>
          <p:nvPr/>
        </p:nvSpPr>
        <p:spPr>
          <a:xfrm>
            <a:off x="4304633" y="2945294"/>
            <a:ext cx="1522725" cy="1564678"/>
          </a:xfrm>
          <a:prstGeom prst="ellipse">
            <a:avLst/>
          </a:prstGeom>
          <a:solidFill>
            <a:srgbClr val="92D05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Ni Plating Process</a:t>
            </a:r>
          </a:p>
        </p:txBody>
      </p:sp>
      <p:sp>
        <p:nvSpPr>
          <p:cNvPr id="4" name="Down Ribbon 3"/>
          <p:cNvSpPr/>
          <p:nvPr/>
        </p:nvSpPr>
        <p:spPr>
          <a:xfrm>
            <a:off x="751726" y="5217705"/>
            <a:ext cx="7598788" cy="685800"/>
          </a:xfrm>
          <a:prstGeom prst="ribbon">
            <a:avLst>
              <a:gd name="adj1" fmla="val 16667"/>
              <a:gd name="adj2" fmla="val 65171"/>
            </a:avLst>
          </a:prstGeom>
          <a:solidFill>
            <a:srgbClr val="92D05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 i="1" dirty="0">
              <a:solidFill>
                <a:srgbClr val="0000FF"/>
              </a:solidFill>
            </a:endParaRPr>
          </a:p>
          <a:p>
            <a:pPr lvl="0" algn="ctr"/>
            <a:r>
              <a:rPr lang="en-US" b="1" i="1" dirty="0">
                <a:solidFill>
                  <a:srgbClr val="0000FF"/>
                </a:solidFill>
              </a:rPr>
              <a:t>Team Akan </a:t>
            </a:r>
            <a:r>
              <a:rPr lang="en-US" b="1" i="1" dirty="0" err="1">
                <a:solidFill>
                  <a:srgbClr val="0000FF"/>
                </a:solidFill>
              </a:rPr>
              <a:t>Berfokus</a:t>
            </a:r>
            <a:r>
              <a:rPr lang="en-US" b="1" i="1" dirty="0">
                <a:solidFill>
                  <a:srgbClr val="0000FF"/>
                </a:solidFill>
              </a:rPr>
              <a:t> </a:t>
            </a:r>
            <a:r>
              <a:rPr lang="en-US" b="1" i="1" dirty="0" err="1">
                <a:solidFill>
                  <a:srgbClr val="0000FF"/>
                </a:solidFill>
              </a:rPr>
              <a:t>Pada</a:t>
            </a:r>
            <a:r>
              <a:rPr lang="en-US" b="1" i="1" dirty="0">
                <a:solidFill>
                  <a:srgbClr val="0000FF"/>
                </a:solidFill>
              </a:rPr>
              <a:t> Ni Plating Process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9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MEASURE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28335" y="838200"/>
            <a:ext cx="8839200" cy="51815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3138300" y="127240"/>
            <a:ext cx="4386943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i="1" dirty="0">
                <a:ln w="19050">
                  <a:solidFill>
                    <a:srgbClr val="008000"/>
                  </a:solidFill>
                  <a:prstDash val="solid"/>
                  <a:miter lim="800000"/>
                </a:ln>
                <a:solidFill>
                  <a:srgbClr val="92D05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PROCESS FLOW  </a:t>
            </a:r>
            <a:endParaRPr lang="en-US" sz="4000" b="1" dirty="0">
              <a:solidFill>
                <a:srgbClr val="92D050"/>
              </a:solidFill>
              <a:cs typeface="+mj-cs"/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2743200" y="990600"/>
            <a:ext cx="3429000" cy="5334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800" b="0" u="sng" dirty="0">
                <a:ln w="19050">
                  <a:solidFill>
                    <a:srgbClr val="008000"/>
                  </a:solidFill>
                  <a:prstDash val="solid"/>
                  <a:miter lim="800000"/>
                </a:ln>
                <a:solidFill>
                  <a:srgbClr val="92D05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PROCESS FLOW NI PLATING L8467  </a:t>
            </a:r>
            <a:endParaRPr lang="en-US" sz="1800" b="0" u="sng" dirty="0">
              <a:solidFill>
                <a:srgbClr val="92D05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61314" y="1306993"/>
            <a:ext cx="1572751" cy="1524000"/>
            <a:chOff x="1295400" y="1524000"/>
            <a:chExt cx="1981200" cy="1524000"/>
          </a:xfrm>
        </p:grpSpPr>
        <p:sp>
          <p:nvSpPr>
            <p:cNvPr id="7" name="Right Arrow 6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1295400" y="1905000"/>
              <a:ext cx="822085" cy="762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Cutting Pin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503713" y="1285507"/>
            <a:ext cx="1538854" cy="1524000"/>
            <a:chOff x="1295400" y="1524000"/>
            <a:chExt cx="1981200" cy="1524000"/>
          </a:xfrm>
        </p:grpSpPr>
        <p:sp>
          <p:nvSpPr>
            <p:cNvPr id="63" name="Right Arrow 62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Pin Polishing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105506" y="1268893"/>
            <a:ext cx="1697117" cy="1524000"/>
            <a:chOff x="1295400" y="1524000"/>
            <a:chExt cx="1981200" cy="1524000"/>
          </a:xfrm>
        </p:grpSpPr>
        <p:sp>
          <p:nvSpPr>
            <p:cNvPr id="67" name="Right Arrow 66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8" name="Oval 67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Pin Ni Plating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 flipH="1">
            <a:off x="6972152" y="4361140"/>
            <a:ext cx="1943248" cy="1524000"/>
            <a:chOff x="1295400" y="1524000"/>
            <a:chExt cx="1981200" cy="1524000"/>
          </a:xfrm>
        </p:grpSpPr>
        <p:sp>
          <p:nvSpPr>
            <p:cNvPr id="71" name="Right Arrow 70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30731" y="203427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Final Inspection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 rot="16200000" flipH="1">
            <a:off x="6872653" y="2376855"/>
            <a:ext cx="2942495" cy="1600200"/>
            <a:chOff x="1410629" y="1371600"/>
            <a:chExt cx="1865971" cy="1600200"/>
          </a:xfrm>
        </p:grpSpPr>
        <p:sp>
          <p:nvSpPr>
            <p:cNvPr id="75" name="Right Arrow 74"/>
            <p:cNvSpPr/>
            <p:nvPr/>
          </p:nvSpPr>
          <p:spPr>
            <a:xfrm>
              <a:off x="1676400" y="1371600"/>
              <a:ext cx="1600200" cy="16002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6" name="Oval 75"/>
            <p:cNvSpPr/>
            <p:nvPr/>
          </p:nvSpPr>
          <p:spPr>
            <a:xfrm rot="16200000">
              <a:off x="1256421" y="1921972"/>
              <a:ext cx="839957" cy="531541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 rot="16200000">
              <a:off x="1934413" y="1964858"/>
              <a:ext cx="1107902" cy="5660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Pin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 Tinning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 flipH="1">
            <a:off x="5237598" y="4391788"/>
            <a:ext cx="1696602" cy="1524000"/>
            <a:chOff x="1295400" y="1524000"/>
            <a:chExt cx="1981200" cy="1524000"/>
          </a:xfrm>
        </p:grpSpPr>
        <p:sp>
          <p:nvSpPr>
            <p:cNvPr id="79" name="Right Arrow 78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0" name="Oval 79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981201" y="1981200"/>
              <a:ext cx="1182827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QA Inspection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 flipH="1">
            <a:off x="3357188" y="4419600"/>
            <a:ext cx="1824412" cy="1524000"/>
            <a:chOff x="1295400" y="1524000"/>
            <a:chExt cx="1981200" cy="1524000"/>
          </a:xfrm>
        </p:grpSpPr>
        <p:sp>
          <p:nvSpPr>
            <p:cNvPr id="83" name="Right Arrow 82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4" name="Oval 83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Packing process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 rot="5400000" flipH="1">
            <a:off x="47340" y="3807411"/>
            <a:ext cx="2075394" cy="1524000"/>
            <a:chOff x="1295400" y="1524000"/>
            <a:chExt cx="1981200" cy="1524000"/>
          </a:xfrm>
        </p:grpSpPr>
        <p:sp>
          <p:nvSpPr>
            <p:cNvPr id="87" name="Right Arrow 86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8" name="Oval 87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 rot="5400000">
              <a:off x="2304304" y="2066287"/>
              <a:ext cx="1002580" cy="4996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LUMENIS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Customer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959719" y="2612449"/>
            <a:ext cx="780215" cy="298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FF"/>
                </a:solidFill>
              </a:rPr>
              <a:t>START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725295" y="3827634"/>
            <a:ext cx="780215" cy="2981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End</a:t>
            </a:r>
          </a:p>
        </p:txBody>
      </p:sp>
      <p:grpSp>
        <p:nvGrpSpPr>
          <p:cNvPr id="91" name="Group 90"/>
          <p:cNvGrpSpPr/>
          <p:nvPr/>
        </p:nvGrpSpPr>
        <p:grpSpPr>
          <a:xfrm>
            <a:off x="5867268" y="1257318"/>
            <a:ext cx="1785511" cy="1524000"/>
            <a:chOff x="1295400" y="1524000"/>
            <a:chExt cx="1981200" cy="1524000"/>
          </a:xfrm>
        </p:grpSpPr>
        <p:sp>
          <p:nvSpPr>
            <p:cNvPr id="92" name="Right Arrow 91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3" name="Oval 92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Wire Winding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 flipH="1">
            <a:off x="1528388" y="4419600"/>
            <a:ext cx="1824412" cy="1524000"/>
            <a:chOff x="1295400" y="1524000"/>
            <a:chExt cx="1981200" cy="1524000"/>
          </a:xfrm>
        </p:grpSpPr>
        <p:sp>
          <p:nvSpPr>
            <p:cNvPr id="96" name="Right Arrow 95"/>
            <p:cNvSpPr/>
            <p:nvPr/>
          </p:nvSpPr>
          <p:spPr>
            <a:xfrm>
              <a:off x="1676400" y="1524000"/>
              <a:ext cx="1600200" cy="152400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7" name="Oval 96"/>
            <p:cNvSpPr/>
            <p:nvPr/>
          </p:nvSpPr>
          <p:spPr>
            <a:xfrm>
              <a:off x="1295400" y="1905000"/>
              <a:ext cx="762000" cy="762000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981200" y="1981200"/>
              <a:ext cx="10668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QA Inspection</a:t>
              </a:r>
            </a:p>
          </p:txBody>
        </p:sp>
      </p:grpSp>
      <p:cxnSp>
        <p:nvCxnSpPr>
          <p:cNvPr id="3" name="Straight Arrow Connector 2"/>
          <p:cNvCxnSpPr/>
          <p:nvPr/>
        </p:nvCxnSpPr>
        <p:spPr>
          <a:xfrm>
            <a:off x="1085037" y="2935400"/>
            <a:ext cx="6077763" cy="2347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239000" y="2946640"/>
            <a:ext cx="0" cy="116816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1909976" y="4174063"/>
            <a:ext cx="5357204" cy="3913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30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>
            <a:spLocks/>
          </p:cNvSpPr>
          <p:nvPr/>
        </p:nvSpPr>
        <p:spPr bwMode="auto">
          <a:xfrm>
            <a:off x="2859167" y="159227"/>
            <a:ext cx="4379837" cy="5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Diagram </a:t>
            </a:r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Tulang</a:t>
            </a:r>
            <a:r>
              <a:rPr lang="en-US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Ikan</a:t>
            </a:r>
            <a:endParaRPr 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grpSp>
        <p:nvGrpSpPr>
          <p:cNvPr id="178" name="Group 9"/>
          <p:cNvGrpSpPr>
            <a:grpSpLocks/>
          </p:cNvGrpSpPr>
          <p:nvPr/>
        </p:nvGrpSpPr>
        <p:grpSpPr bwMode="auto">
          <a:xfrm>
            <a:off x="0" y="0"/>
            <a:ext cx="2066925" cy="695325"/>
            <a:chOff x="0" y="0"/>
            <a:chExt cx="2066925" cy="695325"/>
          </a:xfrm>
        </p:grpSpPr>
        <p:sp>
          <p:nvSpPr>
            <p:cNvPr id="180" name="Freeform 4"/>
            <p:cNvSpPr>
              <a:spLocks/>
            </p:cNvSpPr>
            <p:nvPr/>
          </p:nvSpPr>
          <p:spPr bwMode="auto">
            <a:xfrm>
              <a:off x="0" y="0"/>
              <a:ext cx="2066925" cy="695325"/>
            </a:xfrm>
            <a:custGeom>
              <a:avLst/>
              <a:gdLst/>
              <a:ahLst/>
              <a:cxnLst>
                <a:cxn ang="0">
                  <a:pos x="955" y="637"/>
                </a:cxn>
                <a:cxn ang="0">
                  <a:pos x="1908" y="319"/>
                </a:cxn>
                <a:cxn ang="0">
                  <a:pos x="1670" y="319"/>
                </a:cxn>
                <a:cxn ang="0">
                  <a:pos x="1670" y="0"/>
                </a:cxn>
                <a:cxn ang="0">
                  <a:pos x="239" y="0"/>
                </a:cxn>
                <a:cxn ang="0">
                  <a:pos x="239" y="319"/>
                </a:cxn>
                <a:cxn ang="0">
                  <a:pos x="0" y="319"/>
                </a:cxn>
                <a:cxn ang="0">
                  <a:pos x="955" y="637"/>
                </a:cxn>
              </a:cxnLst>
              <a:rect l="0" t="0" r="r" b="b"/>
              <a:pathLst>
                <a:path w="1909" h="638">
                  <a:moveTo>
                    <a:pt x="955" y="637"/>
                  </a:moveTo>
                  <a:lnTo>
                    <a:pt x="1908" y="319"/>
                  </a:lnTo>
                  <a:lnTo>
                    <a:pt x="1670" y="319"/>
                  </a:lnTo>
                  <a:lnTo>
                    <a:pt x="1670" y="0"/>
                  </a:lnTo>
                  <a:lnTo>
                    <a:pt x="239" y="0"/>
                  </a:lnTo>
                  <a:lnTo>
                    <a:pt x="239" y="319"/>
                  </a:lnTo>
                  <a:lnTo>
                    <a:pt x="0" y="319"/>
                  </a:lnTo>
                  <a:lnTo>
                    <a:pt x="955" y="637"/>
                  </a:lnTo>
                </a:path>
              </a:pathLst>
            </a:custGeom>
            <a:gradFill flip="none" rotWithShape="1">
              <a:gsLst>
                <a:gs pos="2700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2700000" scaled="1"/>
              <a:tileRect/>
            </a:gradFill>
            <a:ln w="12700" cap="rnd" cmpd="sng">
              <a:noFill/>
              <a:prstDash val="solid"/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algn="r" eaLnBrk="0" hangingPunct="0">
                <a:defRPr/>
              </a:pPr>
              <a:endParaRPr lang="en-US" sz="2000">
                <a:solidFill>
                  <a:prstClr val="black"/>
                </a:solidFill>
                <a:ea typeface="ＭＳ Ｐゴシック" pitchFamily="34" charset="-128"/>
              </a:endParaRPr>
            </a:p>
          </p:txBody>
        </p:sp>
        <p:sp>
          <p:nvSpPr>
            <p:cNvPr id="181" name="Rectangle 5"/>
            <p:cNvSpPr>
              <a:spLocks noChangeArrowheads="1"/>
            </p:cNvSpPr>
            <p:nvPr/>
          </p:nvSpPr>
          <p:spPr bwMode="auto">
            <a:xfrm>
              <a:off x="320567" y="31532"/>
              <a:ext cx="1438275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 eaLnBrk="0" hangingPunct="0">
                <a:defRPr/>
              </a:pPr>
              <a:r>
                <a:rPr lang="id-ID" b="1" dirty="0">
                  <a:ln w="11430"/>
                  <a:solidFill>
                    <a:srgbClr val="FF99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Arial" charset="0"/>
                  <a:ea typeface="ＭＳ Ｐゴシック" pitchFamily="34" charset="-128"/>
                </a:rPr>
                <a:t>ANALYZE</a:t>
              </a:r>
              <a:endParaRPr lang="en-US" b="1" dirty="0">
                <a:ln w="11430"/>
                <a:solidFill>
                  <a:srgbClr val="FF99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charset="0"/>
                <a:ea typeface="ＭＳ Ｐゴシック" pitchFamily="34" charset="-128"/>
              </a:endParaRPr>
            </a:p>
          </p:txBody>
        </p:sp>
      </p:grpSp>
      <p:sp>
        <p:nvSpPr>
          <p:cNvPr id="100" name="TextBox 37"/>
          <p:cNvSpPr txBox="1">
            <a:spLocks noChangeArrowheads="1"/>
          </p:cNvSpPr>
          <p:nvPr/>
        </p:nvSpPr>
        <p:spPr bwMode="auto">
          <a:xfrm>
            <a:off x="130752" y="6248400"/>
            <a:ext cx="4974648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 eaLnBrk="0" hangingPunct="0">
              <a:lnSpc>
                <a:spcPct val="150000"/>
              </a:lnSpc>
            </a:pPr>
            <a:r>
              <a:rPr lang="en-US" b="1" i="1" dirty="0"/>
              <a:t>8  KEMUNGKINAN PENYEBAB MASALAH</a:t>
            </a:r>
            <a:endParaRPr lang="en-US" sz="1800" b="1" i="1" u="sng" dirty="0"/>
          </a:p>
        </p:txBody>
      </p:sp>
      <p:sp>
        <p:nvSpPr>
          <p:cNvPr id="390" name="Oval 389"/>
          <p:cNvSpPr/>
          <p:nvPr/>
        </p:nvSpPr>
        <p:spPr>
          <a:xfrm>
            <a:off x="550744" y="6324600"/>
            <a:ext cx="439856" cy="431631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Line 85"/>
          <p:cNvSpPr>
            <a:spLocks noChangeShapeType="1"/>
          </p:cNvSpPr>
          <p:nvPr/>
        </p:nvSpPr>
        <p:spPr bwMode="auto">
          <a:xfrm flipV="1">
            <a:off x="7217810" y="3830851"/>
            <a:ext cx="455612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Text Box 150"/>
          <p:cNvSpPr txBox="1">
            <a:spLocks noChangeArrowheads="1"/>
          </p:cNvSpPr>
          <p:nvPr/>
        </p:nvSpPr>
        <p:spPr bwMode="auto">
          <a:xfrm>
            <a:off x="3527245" y="4020452"/>
            <a:ext cx="210083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Tining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sering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berulang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Line 154"/>
          <p:cNvSpPr>
            <a:spLocks noChangeShapeType="1"/>
          </p:cNvSpPr>
          <p:nvPr/>
        </p:nvSpPr>
        <p:spPr bwMode="auto">
          <a:xfrm flipV="1">
            <a:off x="2432945" y="3949298"/>
            <a:ext cx="831265" cy="1672491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Text Box 177"/>
          <p:cNvSpPr txBox="1">
            <a:spLocks noChangeArrowheads="1"/>
          </p:cNvSpPr>
          <p:nvPr/>
        </p:nvSpPr>
        <p:spPr bwMode="auto">
          <a:xfrm>
            <a:off x="3592687" y="3706858"/>
            <a:ext cx="1904011" cy="215433"/>
          </a:xfrm>
          <a:prstGeom prst="rect">
            <a:avLst/>
          </a:prstGeom>
          <a:noFill/>
          <a:ln w="44450" cmpd="dbl" algn="ctr">
            <a:noFill/>
            <a:miter lim="800000"/>
            <a:headEnd/>
            <a:tailEnd/>
          </a:ln>
        </p:spPr>
        <p:txBody>
          <a:bodyPr wrap="square" lIns="91429" tIns="45715" rIns="91429" bIns="45715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Pin </a:t>
            </a:r>
            <a:r>
              <a:rPr lang="en-US" sz="8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full </a:t>
            </a:r>
            <a:r>
              <a:rPr lang="en-US" sz="8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tercover</a:t>
            </a:r>
            <a:r>
              <a:rPr lang="en-US" sz="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tinning</a:t>
            </a:r>
          </a:p>
        </p:txBody>
      </p:sp>
      <p:sp>
        <p:nvSpPr>
          <p:cNvPr id="205" name="Text Box 187"/>
          <p:cNvSpPr txBox="1">
            <a:spLocks noChangeArrowheads="1"/>
          </p:cNvSpPr>
          <p:nvPr/>
        </p:nvSpPr>
        <p:spPr bwMode="auto">
          <a:xfrm>
            <a:off x="7668471" y="3373651"/>
            <a:ext cx="12297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800" b="0">
              <a:solidFill>
                <a:schemeClr val="bg1"/>
              </a:solidFill>
            </a:endParaRPr>
          </a:p>
          <a:p>
            <a:pPr algn="r"/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207" name="Text Box 305"/>
          <p:cNvSpPr txBox="1">
            <a:spLocks noChangeArrowheads="1"/>
          </p:cNvSpPr>
          <p:nvPr/>
        </p:nvSpPr>
        <p:spPr bwMode="auto">
          <a:xfrm>
            <a:off x="7410396" y="2211709"/>
            <a:ext cx="50800" cy="215433"/>
          </a:xfrm>
          <a:prstGeom prst="rect">
            <a:avLst/>
          </a:prstGeom>
          <a:noFill/>
          <a:ln w="44450" cmpd="dbl" algn="ctr">
            <a:noFill/>
            <a:miter lim="800000"/>
            <a:headEnd/>
            <a:tailEnd/>
          </a:ln>
        </p:spPr>
        <p:txBody>
          <a:bodyPr wrap="square" lIns="91429" tIns="45715" rIns="91429" bIns="45715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Line 127"/>
          <p:cNvSpPr>
            <a:spLocks noChangeShapeType="1"/>
          </p:cNvSpPr>
          <p:nvPr/>
        </p:nvSpPr>
        <p:spPr bwMode="auto">
          <a:xfrm flipH="1">
            <a:off x="3239036" y="3828985"/>
            <a:ext cx="422177" cy="186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Line 99"/>
          <p:cNvSpPr>
            <a:spLocks noChangeShapeType="1"/>
          </p:cNvSpPr>
          <p:nvPr/>
        </p:nvSpPr>
        <p:spPr bwMode="auto">
          <a:xfrm flipV="1">
            <a:off x="2808596" y="4162015"/>
            <a:ext cx="553115" cy="1173178"/>
          </a:xfrm>
          <a:prstGeom prst="line">
            <a:avLst/>
          </a:prstGeom>
          <a:noFill/>
          <a:ln w="1270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Line 121"/>
          <p:cNvSpPr>
            <a:spLocks noChangeShapeType="1"/>
          </p:cNvSpPr>
          <p:nvPr/>
        </p:nvSpPr>
        <p:spPr bwMode="auto">
          <a:xfrm flipH="1">
            <a:off x="3127909" y="4663834"/>
            <a:ext cx="214313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 Box 188"/>
          <p:cNvSpPr txBox="1">
            <a:spLocks noChangeArrowheads="1"/>
          </p:cNvSpPr>
          <p:nvPr/>
        </p:nvSpPr>
        <p:spPr bwMode="auto">
          <a:xfrm>
            <a:off x="424213" y="3663211"/>
            <a:ext cx="2343617" cy="184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5000"/>
              </a:lnSpc>
            </a:pPr>
            <a:r>
              <a:rPr lang="en-US" sz="800" b="1" dirty="0">
                <a:latin typeface="Arial" pitchFamily="34" charset="0"/>
                <a:cs typeface="Arial" pitchFamily="34" charset="0"/>
              </a:rPr>
              <a:t>Plating </a:t>
            </a:r>
            <a:r>
              <a:rPr lang="en-US" sz="800" b="1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b="1" dirty="0" err="1">
                <a:latin typeface="Arial" pitchFamily="34" charset="0"/>
                <a:cs typeface="Arial" pitchFamily="34" charset="0"/>
              </a:rPr>
              <a:t>Kuat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Line 99"/>
          <p:cNvSpPr>
            <a:spLocks noChangeShapeType="1"/>
          </p:cNvSpPr>
          <p:nvPr/>
        </p:nvSpPr>
        <p:spPr bwMode="auto">
          <a:xfrm flipV="1">
            <a:off x="6858744" y="4113362"/>
            <a:ext cx="349473" cy="860488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Text Box 190"/>
          <p:cNvSpPr txBox="1">
            <a:spLocks noChangeArrowheads="1"/>
          </p:cNvSpPr>
          <p:nvPr/>
        </p:nvSpPr>
        <p:spPr bwMode="auto">
          <a:xfrm>
            <a:off x="3325680" y="4535790"/>
            <a:ext cx="1469453" cy="276999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Reject tinning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sesuai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procedure </a:t>
            </a:r>
            <a:endParaRPr lang="en-US" sz="800" b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1" name="Text Box 221"/>
          <p:cNvSpPr txBox="1">
            <a:spLocks noChangeArrowheads="1"/>
          </p:cNvSpPr>
          <p:nvPr/>
        </p:nvSpPr>
        <p:spPr bwMode="auto">
          <a:xfrm>
            <a:off x="5792915" y="4362195"/>
            <a:ext cx="1119321" cy="406265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Kotoran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pada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Air washing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mengendap</a:t>
            </a:r>
            <a:endParaRPr lang="en-US" sz="800" b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4" name="Text Box 74"/>
          <p:cNvSpPr txBox="1">
            <a:spLocks noChangeArrowheads="1"/>
          </p:cNvSpPr>
          <p:nvPr/>
        </p:nvSpPr>
        <p:spPr bwMode="auto">
          <a:xfrm>
            <a:off x="5787620" y="3722086"/>
            <a:ext cx="1581003" cy="3385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" pitchFamily="34" charset="0"/>
                <a:cs typeface="Arial" pitchFamily="34" charset="0"/>
              </a:rPr>
              <a:t>Proses washing </a:t>
            </a:r>
            <a:r>
              <a:rPr lang="en-US" sz="800" b="1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b="1" dirty="0" err="1">
                <a:latin typeface="Arial" pitchFamily="34" charset="0"/>
                <a:cs typeface="Arial" pitchFamily="34" charset="0"/>
              </a:rPr>
              <a:t>maksimal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1" name="Line 99"/>
          <p:cNvSpPr>
            <a:spLocks noChangeShapeType="1"/>
          </p:cNvSpPr>
          <p:nvPr/>
        </p:nvSpPr>
        <p:spPr bwMode="auto">
          <a:xfrm flipV="1">
            <a:off x="2225829" y="4053245"/>
            <a:ext cx="484909" cy="1015730"/>
          </a:xfrm>
          <a:prstGeom prst="line">
            <a:avLst/>
          </a:prstGeom>
          <a:noFill/>
          <a:ln w="1270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4" name="Line 88"/>
          <p:cNvSpPr>
            <a:spLocks noChangeShapeType="1"/>
          </p:cNvSpPr>
          <p:nvPr/>
        </p:nvSpPr>
        <p:spPr bwMode="auto">
          <a:xfrm flipV="1">
            <a:off x="2096524" y="3830850"/>
            <a:ext cx="897321" cy="1790939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5" name="Line 101"/>
          <p:cNvSpPr>
            <a:spLocks noChangeShapeType="1"/>
          </p:cNvSpPr>
          <p:nvPr/>
        </p:nvSpPr>
        <p:spPr bwMode="auto">
          <a:xfrm flipV="1">
            <a:off x="2114430" y="4528333"/>
            <a:ext cx="377704" cy="460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7" name="Text Box 190"/>
          <p:cNvSpPr txBox="1">
            <a:spLocks noChangeArrowheads="1"/>
          </p:cNvSpPr>
          <p:nvPr/>
        </p:nvSpPr>
        <p:spPr bwMode="auto">
          <a:xfrm>
            <a:off x="1179356" y="4982871"/>
            <a:ext cx="1293606" cy="184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</a:pPr>
            <a:r>
              <a:rPr lang="en-US" sz="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Proses tinning </a:t>
            </a:r>
            <a:r>
              <a:rPr lang="en-US" sz="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susah</a:t>
            </a:r>
            <a:r>
              <a:rPr lang="en-US" sz="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8" name="Line 75"/>
          <p:cNvSpPr>
            <a:spLocks noChangeShapeType="1"/>
          </p:cNvSpPr>
          <p:nvPr/>
        </p:nvSpPr>
        <p:spPr bwMode="auto">
          <a:xfrm flipV="1">
            <a:off x="2710893" y="3754651"/>
            <a:ext cx="41405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0" name="Text Box 150"/>
          <p:cNvSpPr txBox="1">
            <a:spLocks noChangeArrowheads="1"/>
          </p:cNvSpPr>
          <p:nvPr/>
        </p:nvSpPr>
        <p:spPr bwMode="auto">
          <a:xfrm>
            <a:off x="2776198" y="5227471"/>
            <a:ext cx="20244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itchFamily="34" charset="0"/>
                <a:cs typeface="Arial" pitchFamily="34" charset="0"/>
              </a:rPr>
              <a:t>Ada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yg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perlu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di rework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1" name="Line 97"/>
          <p:cNvSpPr>
            <a:spLocks noChangeShapeType="1"/>
          </p:cNvSpPr>
          <p:nvPr/>
        </p:nvSpPr>
        <p:spPr bwMode="auto">
          <a:xfrm flipV="1">
            <a:off x="6494558" y="1316250"/>
            <a:ext cx="29458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6" name="Text Box 129"/>
          <p:cNvSpPr txBox="1">
            <a:spLocks noChangeArrowheads="1"/>
          </p:cNvSpPr>
          <p:nvPr/>
        </p:nvSpPr>
        <p:spPr bwMode="auto">
          <a:xfrm>
            <a:off x="5350782" y="2450441"/>
            <a:ext cx="171898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latin typeface="Arial" pitchFamily="34" charset="0"/>
                <a:cs typeface="Arial" pitchFamily="34" charset="0"/>
              </a:rPr>
              <a:t>Pin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jadi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halus</a:t>
            </a:r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7" name="Line 99"/>
          <p:cNvSpPr>
            <a:spLocks noChangeShapeType="1"/>
          </p:cNvSpPr>
          <p:nvPr/>
        </p:nvSpPr>
        <p:spPr bwMode="auto">
          <a:xfrm flipH="1" flipV="1">
            <a:off x="6678115" y="1650812"/>
            <a:ext cx="392798" cy="960838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8" name="Line 88"/>
          <p:cNvSpPr>
            <a:spLocks noChangeShapeType="1"/>
          </p:cNvSpPr>
          <p:nvPr/>
        </p:nvSpPr>
        <p:spPr bwMode="auto">
          <a:xfrm flipH="1" flipV="1">
            <a:off x="6669870" y="1327539"/>
            <a:ext cx="628495" cy="1551091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0" name="Line 101"/>
          <p:cNvSpPr>
            <a:spLocks noChangeShapeType="1"/>
          </p:cNvSpPr>
          <p:nvPr/>
        </p:nvSpPr>
        <p:spPr bwMode="auto">
          <a:xfrm flipV="1">
            <a:off x="6542773" y="2065813"/>
            <a:ext cx="246370" cy="551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4" name="Line 154"/>
          <p:cNvSpPr>
            <a:spLocks noChangeShapeType="1"/>
          </p:cNvSpPr>
          <p:nvPr/>
        </p:nvSpPr>
        <p:spPr bwMode="auto">
          <a:xfrm flipV="1">
            <a:off x="6809900" y="3849502"/>
            <a:ext cx="730709" cy="176339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5" name="Line 154"/>
          <p:cNvSpPr>
            <a:spLocks noChangeShapeType="1"/>
          </p:cNvSpPr>
          <p:nvPr/>
        </p:nvSpPr>
        <p:spPr bwMode="auto">
          <a:xfrm flipV="1">
            <a:off x="7188864" y="4253243"/>
            <a:ext cx="519929" cy="127268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" name="Line 127"/>
          <p:cNvSpPr>
            <a:spLocks noChangeShapeType="1"/>
          </p:cNvSpPr>
          <p:nvPr/>
        </p:nvSpPr>
        <p:spPr bwMode="auto">
          <a:xfrm flipH="1" flipV="1">
            <a:off x="7593773" y="4124086"/>
            <a:ext cx="184983" cy="92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9" name="Text Box 74"/>
          <p:cNvSpPr txBox="1">
            <a:spLocks noChangeArrowheads="1"/>
          </p:cNvSpPr>
          <p:nvPr/>
        </p:nvSpPr>
        <p:spPr bwMode="auto">
          <a:xfrm>
            <a:off x="5714246" y="3972115"/>
            <a:ext cx="138922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Ada </a:t>
            </a:r>
            <a:r>
              <a:rPr lang="en-US" sz="800" b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kerusakan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0" name="Line 154"/>
          <p:cNvSpPr>
            <a:spLocks noChangeShapeType="1"/>
          </p:cNvSpPr>
          <p:nvPr/>
        </p:nvSpPr>
        <p:spPr bwMode="auto">
          <a:xfrm flipH="1" flipV="1">
            <a:off x="6977528" y="1373831"/>
            <a:ext cx="494772" cy="124803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1" name="Line 127"/>
          <p:cNvSpPr>
            <a:spLocks noChangeShapeType="1"/>
          </p:cNvSpPr>
          <p:nvPr/>
        </p:nvSpPr>
        <p:spPr bwMode="auto">
          <a:xfrm flipH="1" flipV="1">
            <a:off x="6836328" y="1316250"/>
            <a:ext cx="37270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2" name="Line 99"/>
          <p:cNvSpPr>
            <a:spLocks noChangeShapeType="1"/>
          </p:cNvSpPr>
          <p:nvPr/>
        </p:nvSpPr>
        <p:spPr bwMode="auto">
          <a:xfrm flipH="1" flipV="1">
            <a:off x="7173011" y="1601156"/>
            <a:ext cx="307571" cy="75567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 Box 129"/>
          <p:cNvSpPr txBox="1">
            <a:spLocks noChangeArrowheads="1"/>
          </p:cNvSpPr>
          <p:nvPr/>
        </p:nvSpPr>
        <p:spPr bwMode="auto">
          <a:xfrm>
            <a:off x="7498227" y="2186097"/>
            <a:ext cx="1325796" cy="21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780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78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780" dirty="0" err="1">
                <a:latin typeface="Arial" pitchFamily="34" charset="0"/>
                <a:cs typeface="Arial" pitchFamily="34" charset="0"/>
              </a:rPr>
              <a:t>ada</a:t>
            </a:r>
            <a:r>
              <a:rPr lang="en-US" sz="78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780" dirty="0" err="1">
                <a:latin typeface="Arial" pitchFamily="34" charset="0"/>
                <a:cs typeface="Arial" pitchFamily="34" charset="0"/>
              </a:rPr>
              <a:t>jenis</a:t>
            </a:r>
            <a:r>
              <a:rPr lang="en-US" sz="780" dirty="0">
                <a:latin typeface="Arial" pitchFamily="34" charset="0"/>
                <a:cs typeface="Arial" pitchFamily="34" charset="0"/>
              </a:rPr>
              <a:t> material</a:t>
            </a:r>
            <a:endParaRPr lang="en-US" sz="78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Text Box 129"/>
          <p:cNvSpPr txBox="1">
            <a:spLocks noChangeArrowheads="1"/>
          </p:cNvSpPr>
          <p:nvPr/>
        </p:nvSpPr>
        <p:spPr bwMode="auto">
          <a:xfrm>
            <a:off x="7194094" y="1206213"/>
            <a:ext cx="19184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" pitchFamily="34" charset="0"/>
                <a:cs typeface="Arial" pitchFamily="34" charset="0"/>
              </a:rPr>
              <a:t>Material Common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5" name="Text Box 74"/>
          <p:cNvSpPr txBox="1">
            <a:spLocks noChangeArrowheads="1"/>
          </p:cNvSpPr>
          <p:nvPr/>
        </p:nvSpPr>
        <p:spPr bwMode="auto">
          <a:xfrm>
            <a:off x="7387194" y="5161307"/>
            <a:ext cx="1091458" cy="21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780" dirty="0" err="1">
                <a:latin typeface="Arial" pitchFamily="34" charset="0"/>
                <a:cs typeface="Arial" pitchFamily="34" charset="0"/>
              </a:rPr>
              <a:t>Butuh</a:t>
            </a:r>
            <a:r>
              <a:rPr lang="en-US" sz="780" dirty="0">
                <a:latin typeface="Arial" pitchFamily="34" charset="0"/>
                <a:cs typeface="Arial" pitchFamily="34" charset="0"/>
              </a:rPr>
              <a:t> di </a:t>
            </a:r>
            <a:r>
              <a:rPr lang="en-US" sz="780" dirty="0" err="1">
                <a:latin typeface="Arial" pitchFamily="34" charset="0"/>
                <a:cs typeface="Arial" pitchFamily="34" charset="0"/>
              </a:rPr>
              <a:t>perbakai</a:t>
            </a:r>
            <a:endParaRPr lang="en-US" sz="78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6" name="Text Box 129"/>
          <p:cNvSpPr txBox="1">
            <a:spLocks noChangeArrowheads="1"/>
          </p:cNvSpPr>
          <p:nvPr/>
        </p:nvSpPr>
        <p:spPr bwMode="auto">
          <a:xfrm>
            <a:off x="3432146" y="1278151"/>
            <a:ext cx="17570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itchFamily="34" charset="0"/>
                <a:cs typeface="Arial" pitchFamily="34" charset="0"/>
              </a:rPr>
              <a:t>Salah setting parameter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Text Box 129"/>
          <p:cNvSpPr txBox="1">
            <a:spLocks noChangeArrowheads="1"/>
          </p:cNvSpPr>
          <p:nvPr/>
        </p:nvSpPr>
        <p:spPr bwMode="auto">
          <a:xfrm>
            <a:off x="4018222" y="2721642"/>
            <a:ext cx="189243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itchFamily="34" charset="0"/>
                <a:cs typeface="Arial" pitchFamily="34" charset="0"/>
              </a:rPr>
              <a:t>Beda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lampu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beda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settingan</a:t>
            </a:r>
            <a:endParaRPr lang="en-US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8" name="Text Box 129"/>
          <p:cNvSpPr txBox="1">
            <a:spLocks noChangeArrowheads="1"/>
          </p:cNvSpPr>
          <p:nvPr/>
        </p:nvSpPr>
        <p:spPr bwMode="auto">
          <a:xfrm>
            <a:off x="3763323" y="1598370"/>
            <a:ext cx="120883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baca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WI</a:t>
            </a:r>
            <a:endParaRPr lang="en-US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9" name="Text Box 74"/>
          <p:cNvSpPr txBox="1">
            <a:spLocks noChangeArrowheads="1"/>
          </p:cNvSpPr>
          <p:nvPr/>
        </p:nvSpPr>
        <p:spPr bwMode="auto">
          <a:xfrm>
            <a:off x="5782663" y="5491486"/>
            <a:ext cx="101863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Hasil</a:t>
            </a:r>
            <a:r>
              <a:rPr lang="en-US" sz="8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plating </a:t>
            </a:r>
            <a:r>
              <a:rPr lang="en-US" sz="800" b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kotor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Text Box 74"/>
          <p:cNvSpPr txBox="1">
            <a:spLocks noChangeArrowheads="1"/>
          </p:cNvSpPr>
          <p:nvPr/>
        </p:nvSpPr>
        <p:spPr bwMode="auto">
          <a:xfrm>
            <a:off x="7794266" y="4070597"/>
            <a:ext cx="125207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" pitchFamily="34" charset="0"/>
                <a:cs typeface="Arial" pitchFamily="34" charset="0"/>
              </a:rPr>
              <a:t>Proses Lama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7308099" y="1452592"/>
            <a:ext cx="1590466" cy="217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Menyesuikan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OD Pin</a:t>
            </a:r>
            <a:endParaRPr lang="en-US" sz="800" dirty="0"/>
          </a:p>
        </p:txBody>
      </p:sp>
      <p:sp>
        <p:nvSpPr>
          <p:cNvPr id="302" name="Rectangle 301"/>
          <p:cNvSpPr/>
          <p:nvPr/>
        </p:nvSpPr>
        <p:spPr>
          <a:xfrm>
            <a:off x="677826" y="2093614"/>
            <a:ext cx="101672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latin typeface="Arial" pitchFamily="34" charset="0"/>
                <a:cs typeface="Arial" pitchFamily="34" charset="0"/>
              </a:rPr>
              <a:t>NA</a:t>
            </a:r>
          </a:p>
        </p:txBody>
      </p:sp>
      <p:sp>
        <p:nvSpPr>
          <p:cNvPr id="304" name="Text Box 129"/>
          <p:cNvSpPr txBox="1">
            <a:spLocks noChangeArrowheads="1"/>
          </p:cNvSpPr>
          <p:nvPr/>
        </p:nvSpPr>
        <p:spPr bwMode="auto">
          <a:xfrm>
            <a:off x="5045083" y="1423645"/>
            <a:ext cx="154173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 err="1">
                <a:latin typeface="Arial" pitchFamily="34" charset="0"/>
                <a:cs typeface="Arial" pitchFamily="34" charset="0"/>
              </a:rPr>
              <a:t>Menghilangkan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kotoran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di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permukaan</a:t>
            </a:r>
            <a:endParaRPr lang="en-US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5" name="Text Box 190"/>
          <p:cNvSpPr txBox="1">
            <a:spLocks noChangeArrowheads="1"/>
          </p:cNvSpPr>
          <p:nvPr/>
        </p:nvSpPr>
        <p:spPr bwMode="auto">
          <a:xfrm>
            <a:off x="397867" y="4412650"/>
            <a:ext cx="1811351" cy="184922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5000"/>
              </a:lnSpc>
            </a:pP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8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maksimalnya</a:t>
            </a:r>
            <a:r>
              <a:rPr lang="en-US" sz="8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tinning process</a:t>
            </a:r>
          </a:p>
        </p:txBody>
      </p:sp>
      <p:sp>
        <p:nvSpPr>
          <p:cNvPr id="306" name="Text Box 129"/>
          <p:cNvSpPr txBox="1">
            <a:spLocks noChangeArrowheads="1"/>
          </p:cNvSpPr>
          <p:nvPr/>
        </p:nvSpPr>
        <p:spPr bwMode="auto">
          <a:xfrm>
            <a:off x="5996766" y="2763485"/>
            <a:ext cx="135818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latin typeface="Arial" pitchFamily="34" charset="0"/>
                <a:cs typeface="Arial" pitchFamily="34" charset="0"/>
              </a:rPr>
              <a:t>Di polishing</a:t>
            </a:r>
            <a:endParaRPr lang="en-US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8" name="Text Box 39"/>
          <p:cNvSpPr txBox="1">
            <a:spLocks noChangeArrowheads="1"/>
          </p:cNvSpPr>
          <p:nvPr/>
        </p:nvSpPr>
        <p:spPr bwMode="auto">
          <a:xfrm>
            <a:off x="4883157" y="1173649"/>
            <a:ext cx="1629247" cy="18492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lnSpc>
                <a:spcPct val="75000"/>
              </a:lnSpc>
              <a:buFontTx/>
              <a:buNone/>
            </a:pPr>
            <a:r>
              <a:rPr lang="en-US" sz="800" b="1" dirty="0">
                <a:latin typeface="Arial" pitchFamily="34" charset="0"/>
                <a:cs typeface="Arial" pitchFamily="34" charset="0"/>
              </a:rPr>
              <a:t>Tungsten pin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9" name="Text Box 261"/>
          <p:cNvSpPr txBox="1">
            <a:spLocks noChangeArrowheads="1"/>
          </p:cNvSpPr>
          <p:nvPr/>
        </p:nvSpPr>
        <p:spPr bwMode="auto">
          <a:xfrm>
            <a:off x="5591088" y="1946784"/>
            <a:ext cx="1095732" cy="338554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 err="1">
                <a:latin typeface="Arial" pitchFamily="34" charset="0"/>
                <a:cs typeface="Arial" pitchFamily="34" charset="0"/>
              </a:rPr>
              <a:t>Tiniing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dapat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menempel</a:t>
            </a:r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0" name="Text Box 74"/>
          <p:cNvSpPr txBox="1">
            <a:spLocks noChangeArrowheads="1"/>
          </p:cNvSpPr>
          <p:nvPr/>
        </p:nvSpPr>
        <p:spPr bwMode="auto">
          <a:xfrm>
            <a:off x="489834" y="5452334"/>
            <a:ext cx="1576183" cy="328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Material</a:t>
            </a:r>
            <a:r>
              <a:rPr lang="en-US" sz="800" b="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tidak menempel dengan baik</a:t>
            </a:r>
            <a:endParaRPr lang="en-US" sz="8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1" name="Text Box 150"/>
          <p:cNvSpPr txBox="1">
            <a:spLocks noChangeArrowheads="1"/>
          </p:cNvSpPr>
          <p:nvPr/>
        </p:nvSpPr>
        <p:spPr bwMode="auto">
          <a:xfrm>
            <a:off x="2434705" y="5544548"/>
            <a:ext cx="117322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Metode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tinning manual</a:t>
            </a:r>
          </a:p>
        </p:txBody>
      </p:sp>
      <p:sp>
        <p:nvSpPr>
          <p:cNvPr id="312" name="8-Point Star 311"/>
          <p:cNvSpPr/>
          <p:nvPr/>
        </p:nvSpPr>
        <p:spPr bwMode="auto">
          <a:xfrm>
            <a:off x="5362877" y="1757213"/>
            <a:ext cx="369545" cy="329955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>
                <a:solidFill>
                  <a:srgbClr val="C00000"/>
                </a:solidFill>
                <a:latin typeface="Arial Narrow" pitchFamily="34" charset="0"/>
                <a:ea typeface="ＭＳ Ｐゴシック" pitchFamily="112" charset="-128"/>
              </a:rPr>
              <a:t>2</a:t>
            </a:r>
            <a:endParaRPr kumimoji="0" lang="en-US" sz="800" b="1" i="0" u="none" strike="noStrike" kern="0" cap="none" spc="0" normalizeH="0" baseline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itchFamily="34" charset="0"/>
              <a:ea typeface="ＭＳ Ｐゴシック" pitchFamily="112" charset="-128"/>
            </a:endParaRPr>
          </a:p>
        </p:txBody>
      </p:sp>
      <p:sp>
        <p:nvSpPr>
          <p:cNvPr id="314" name="8-Point Star 313"/>
          <p:cNvSpPr/>
          <p:nvPr/>
        </p:nvSpPr>
        <p:spPr bwMode="auto">
          <a:xfrm>
            <a:off x="188392" y="4191177"/>
            <a:ext cx="335107" cy="354892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itchFamily="34" charset="0"/>
                <a:ea typeface="ＭＳ Ｐゴシック" pitchFamily="112" charset="-128"/>
              </a:rPr>
              <a:t>5</a:t>
            </a:r>
          </a:p>
        </p:txBody>
      </p:sp>
      <p:sp>
        <p:nvSpPr>
          <p:cNvPr id="315" name="8-Point Star 314"/>
          <p:cNvSpPr/>
          <p:nvPr/>
        </p:nvSpPr>
        <p:spPr bwMode="auto">
          <a:xfrm>
            <a:off x="4387653" y="4475013"/>
            <a:ext cx="399926" cy="321866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itchFamily="34" charset="0"/>
                <a:ea typeface="ＭＳ Ｐゴシック" pitchFamily="112" charset="-128"/>
              </a:rPr>
              <a:t>6</a:t>
            </a:r>
          </a:p>
        </p:txBody>
      </p:sp>
      <p:sp>
        <p:nvSpPr>
          <p:cNvPr id="316" name="Text Box 221"/>
          <p:cNvSpPr txBox="1">
            <a:spLocks noChangeArrowheads="1"/>
          </p:cNvSpPr>
          <p:nvPr/>
        </p:nvSpPr>
        <p:spPr bwMode="auto">
          <a:xfrm>
            <a:off x="4050560" y="2026876"/>
            <a:ext cx="1242172" cy="584775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ada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buy off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pengecekan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settingan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setelah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 setting operator</a:t>
            </a:r>
          </a:p>
        </p:txBody>
      </p:sp>
      <p:sp>
        <p:nvSpPr>
          <p:cNvPr id="317" name="8-Point Star 316"/>
          <p:cNvSpPr/>
          <p:nvPr/>
        </p:nvSpPr>
        <p:spPr bwMode="auto">
          <a:xfrm>
            <a:off x="5582119" y="4245014"/>
            <a:ext cx="297466" cy="314158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itchFamily="34" charset="0"/>
                <a:ea typeface="ＭＳ Ｐゴシック" pitchFamily="112" charset="-128"/>
              </a:rPr>
              <a:t>7</a:t>
            </a:r>
          </a:p>
        </p:txBody>
      </p:sp>
      <p:sp>
        <p:nvSpPr>
          <p:cNvPr id="318" name="Line 25"/>
          <p:cNvSpPr>
            <a:spLocks noChangeShapeType="1"/>
          </p:cNvSpPr>
          <p:nvPr/>
        </p:nvSpPr>
        <p:spPr bwMode="auto">
          <a:xfrm>
            <a:off x="6789143" y="1173648"/>
            <a:ext cx="919650" cy="2332211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9" name="Line 16"/>
          <p:cNvSpPr>
            <a:spLocks noChangeShapeType="1"/>
          </p:cNvSpPr>
          <p:nvPr/>
        </p:nvSpPr>
        <p:spPr bwMode="auto">
          <a:xfrm rot="14459067">
            <a:off x="2031303" y="3672140"/>
            <a:ext cx="1392424" cy="2074830"/>
          </a:xfrm>
          <a:prstGeom prst="line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800"/>
          </a:p>
        </p:txBody>
      </p:sp>
      <p:sp>
        <p:nvSpPr>
          <p:cNvPr id="320" name="Line 16"/>
          <p:cNvSpPr>
            <a:spLocks noChangeShapeType="1"/>
          </p:cNvSpPr>
          <p:nvPr/>
        </p:nvSpPr>
        <p:spPr bwMode="auto">
          <a:xfrm rot="14459067">
            <a:off x="6541095" y="3846028"/>
            <a:ext cx="1529553" cy="1882009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800"/>
          </a:p>
        </p:txBody>
      </p:sp>
      <p:cxnSp>
        <p:nvCxnSpPr>
          <p:cNvPr id="321" name="Straight Arrow Connector 320"/>
          <p:cNvCxnSpPr/>
          <p:nvPr/>
        </p:nvCxnSpPr>
        <p:spPr>
          <a:xfrm>
            <a:off x="2585814" y="3972115"/>
            <a:ext cx="251149" cy="0"/>
          </a:xfrm>
          <a:prstGeom prst="straightConnector1">
            <a:avLst/>
          </a:prstGeom>
          <a:ln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/>
          <p:cNvCxnSpPr/>
          <p:nvPr/>
        </p:nvCxnSpPr>
        <p:spPr>
          <a:xfrm flipH="1">
            <a:off x="3212043" y="4110496"/>
            <a:ext cx="249449" cy="0"/>
          </a:xfrm>
          <a:prstGeom prst="straightConnector1">
            <a:avLst/>
          </a:prstGeom>
          <a:ln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/>
          <p:cNvCxnSpPr/>
          <p:nvPr/>
        </p:nvCxnSpPr>
        <p:spPr>
          <a:xfrm>
            <a:off x="7137145" y="4076775"/>
            <a:ext cx="255631" cy="0"/>
          </a:xfrm>
          <a:prstGeom prst="straightConnector1">
            <a:avLst/>
          </a:prstGeom>
          <a:ln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/>
          <p:cNvCxnSpPr/>
          <p:nvPr/>
        </p:nvCxnSpPr>
        <p:spPr>
          <a:xfrm>
            <a:off x="6472083" y="1571104"/>
            <a:ext cx="255632" cy="0"/>
          </a:xfrm>
          <a:prstGeom prst="straightConnector1">
            <a:avLst/>
          </a:prstGeom>
          <a:ln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/>
          <p:cNvCxnSpPr/>
          <p:nvPr/>
        </p:nvCxnSpPr>
        <p:spPr>
          <a:xfrm flipH="1" flipV="1">
            <a:off x="7059683" y="1560909"/>
            <a:ext cx="322587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/>
          <p:cNvCxnSpPr/>
          <p:nvPr/>
        </p:nvCxnSpPr>
        <p:spPr>
          <a:xfrm flipH="1">
            <a:off x="7573614" y="4561110"/>
            <a:ext cx="269067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Line 25"/>
          <p:cNvSpPr>
            <a:spLocks noChangeShapeType="1"/>
          </p:cNvSpPr>
          <p:nvPr/>
        </p:nvSpPr>
        <p:spPr bwMode="auto">
          <a:xfrm>
            <a:off x="948080" y="1180727"/>
            <a:ext cx="902656" cy="2179582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9" name="Line 25"/>
          <p:cNvSpPr>
            <a:spLocks noChangeShapeType="1"/>
          </p:cNvSpPr>
          <p:nvPr/>
        </p:nvSpPr>
        <p:spPr bwMode="auto">
          <a:xfrm>
            <a:off x="3031506" y="1180727"/>
            <a:ext cx="965826" cy="2421803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2" name="Line 154"/>
          <p:cNvSpPr>
            <a:spLocks noChangeShapeType="1"/>
          </p:cNvSpPr>
          <p:nvPr/>
        </p:nvSpPr>
        <p:spPr bwMode="auto">
          <a:xfrm flipH="1" flipV="1">
            <a:off x="3335479" y="1521393"/>
            <a:ext cx="664475" cy="169985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3" name="Line 127"/>
          <p:cNvSpPr>
            <a:spLocks noChangeShapeType="1"/>
          </p:cNvSpPr>
          <p:nvPr/>
        </p:nvSpPr>
        <p:spPr bwMode="auto">
          <a:xfrm flipH="1">
            <a:off x="3145440" y="1411781"/>
            <a:ext cx="375642" cy="23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4" name="Line 99"/>
          <p:cNvSpPr>
            <a:spLocks noChangeShapeType="1"/>
          </p:cNvSpPr>
          <p:nvPr/>
        </p:nvSpPr>
        <p:spPr bwMode="auto">
          <a:xfrm flipH="1" flipV="1">
            <a:off x="3649109" y="1740637"/>
            <a:ext cx="411171" cy="1076702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5" name="Line 121"/>
          <p:cNvSpPr>
            <a:spLocks noChangeShapeType="1"/>
          </p:cNvSpPr>
          <p:nvPr/>
        </p:nvSpPr>
        <p:spPr bwMode="auto">
          <a:xfrm flipH="1">
            <a:off x="3821143" y="2140756"/>
            <a:ext cx="218795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6" name="Straight Arrow Connector 335"/>
          <p:cNvCxnSpPr/>
          <p:nvPr/>
        </p:nvCxnSpPr>
        <p:spPr>
          <a:xfrm flipH="1">
            <a:off x="3413564" y="1715617"/>
            <a:ext cx="359284" cy="5527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 Box 150"/>
          <p:cNvSpPr txBox="1">
            <a:spLocks noChangeArrowheads="1"/>
          </p:cNvSpPr>
          <p:nvPr/>
        </p:nvSpPr>
        <p:spPr bwMode="auto">
          <a:xfrm>
            <a:off x="1479989" y="3870788"/>
            <a:ext cx="13851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Permukaan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Pin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halus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38" name="Group 337"/>
          <p:cNvGrpSpPr>
            <a:grpSpLocks/>
          </p:cNvGrpSpPr>
          <p:nvPr/>
        </p:nvGrpSpPr>
        <p:grpSpPr bwMode="auto">
          <a:xfrm>
            <a:off x="324337" y="3309638"/>
            <a:ext cx="2564104" cy="374015"/>
            <a:chOff x="813280" y="2391631"/>
            <a:chExt cx="574" cy="663"/>
          </a:xfrm>
        </p:grpSpPr>
        <p:sp>
          <p:nvSpPr>
            <p:cNvPr id="543" name="Freeform 542"/>
            <p:cNvSpPr>
              <a:spLocks/>
            </p:cNvSpPr>
            <p:nvPr/>
          </p:nvSpPr>
          <p:spPr bwMode="auto">
            <a:xfrm>
              <a:off x="813280" y="2391950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544" name="Group 543"/>
            <p:cNvGrpSpPr>
              <a:grpSpLocks/>
            </p:cNvGrpSpPr>
            <p:nvPr/>
          </p:nvGrpSpPr>
          <p:grpSpPr bwMode="auto">
            <a:xfrm>
              <a:off x="813288" y="2391631"/>
              <a:ext cx="566" cy="663"/>
              <a:chOff x="813288" y="2391631"/>
              <a:chExt cx="566" cy="663"/>
            </a:xfrm>
          </p:grpSpPr>
          <p:sp>
            <p:nvSpPr>
              <p:cNvPr id="545" name="Freeform 544"/>
              <p:cNvSpPr>
                <a:spLocks/>
              </p:cNvSpPr>
              <p:nvPr/>
            </p:nvSpPr>
            <p:spPr bwMode="auto">
              <a:xfrm>
                <a:off x="813288" y="2392019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6" name="Freeform 545"/>
              <p:cNvSpPr>
                <a:spLocks/>
              </p:cNvSpPr>
              <p:nvPr/>
            </p:nvSpPr>
            <p:spPr bwMode="auto">
              <a:xfrm>
                <a:off x="813590" y="2391895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7" name="Freeform 546"/>
              <p:cNvSpPr>
                <a:spLocks/>
              </p:cNvSpPr>
              <p:nvPr/>
            </p:nvSpPr>
            <p:spPr bwMode="auto">
              <a:xfrm flipV="1">
                <a:off x="813544" y="2391631"/>
                <a:ext cx="292" cy="391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39" name="Group 338"/>
          <p:cNvGrpSpPr>
            <a:grpSpLocks/>
          </p:cNvGrpSpPr>
          <p:nvPr/>
        </p:nvGrpSpPr>
        <p:grpSpPr bwMode="auto">
          <a:xfrm rot="492021">
            <a:off x="2682821" y="3481445"/>
            <a:ext cx="1211134" cy="195347"/>
            <a:chOff x="3171764" y="2567046"/>
            <a:chExt cx="560" cy="344"/>
          </a:xfrm>
        </p:grpSpPr>
        <p:sp>
          <p:nvSpPr>
            <p:cNvPr id="538" name="Freeform 537"/>
            <p:cNvSpPr>
              <a:spLocks/>
            </p:cNvSpPr>
            <p:nvPr/>
          </p:nvSpPr>
          <p:spPr bwMode="auto">
            <a:xfrm>
              <a:off x="3171764" y="2567046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539" name="Group 538"/>
            <p:cNvGrpSpPr>
              <a:grpSpLocks/>
            </p:cNvGrpSpPr>
            <p:nvPr/>
          </p:nvGrpSpPr>
          <p:grpSpPr bwMode="auto">
            <a:xfrm>
              <a:off x="3171771" y="2567082"/>
              <a:ext cx="553" cy="308"/>
              <a:chOff x="3171771" y="2567082"/>
              <a:chExt cx="553" cy="308"/>
            </a:xfrm>
          </p:grpSpPr>
          <p:sp>
            <p:nvSpPr>
              <p:cNvPr id="540" name="Freeform 539"/>
              <p:cNvSpPr>
                <a:spLocks/>
              </p:cNvSpPr>
              <p:nvPr/>
            </p:nvSpPr>
            <p:spPr bwMode="auto">
              <a:xfrm>
                <a:off x="3171771" y="2567082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1" name="Freeform 540"/>
              <p:cNvSpPr>
                <a:spLocks/>
              </p:cNvSpPr>
              <p:nvPr/>
            </p:nvSpPr>
            <p:spPr bwMode="auto">
              <a:xfrm>
                <a:off x="3172044" y="2567126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2" name="Freeform 541"/>
              <p:cNvSpPr>
                <a:spLocks/>
              </p:cNvSpPr>
              <p:nvPr/>
            </p:nvSpPr>
            <p:spPr bwMode="auto">
              <a:xfrm>
                <a:off x="3172028" y="2567118"/>
                <a:ext cx="296" cy="272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40" name="Group 339"/>
          <p:cNvGrpSpPr>
            <a:grpSpLocks/>
          </p:cNvGrpSpPr>
          <p:nvPr/>
        </p:nvGrpSpPr>
        <p:grpSpPr bwMode="auto">
          <a:xfrm>
            <a:off x="3583972" y="3509251"/>
            <a:ext cx="1212968" cy="201123"/>
            <a:chOff x="4072914" y="2594851"/>
            <a:chExt cx="560" cy="344"/>
          </a:xfrm>
        </p:grpSpPr>
        <p:sp>
          <p:nvSpPr>
            <p:cNvPr id="533" name="Freeform 532"/>
            <p:cNvSpPr>
              <a:spLocks/>
            </p:cNvSpPr>
            <p:nvPr/>
          </p:nvSpPr>
          <p:spPr bwMode="auto">
            <a:xfrm>
              <a:off x="4072914" y="2594851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534" name="Group 533"/>
            <p:cNvGrpSpPr>
              <a:grpSpLocks/>
            </p:cNvGrpSpPr>
            <p:nvPr/>
          </p:nvGrpSpPr>
          <p:grpSpPr bwMode="auto">
            <a:xfrm>
              <a:off x="4072922" y="2594920"/>
              <a:ext cx="552" cy="275"/>
              <a:chOff x="4072922" y="2594920"/>
              <a:chExt cx="552" cy="275"/>
            </a:xfrm>
          </p:grpSpPr>
          <p:sp>
            <p:nvSpPr>
              <p:cNvPr id="535" name="Freeform 534"/>
              <p:cNvSpPr>
                <a:spLocks/>
              </p:cNvSpPr>
              <p:nvPr/>
            </p:nvSpPr>
            <p:spPr bwMode="auto">
              <a:xfrm>
                <a:off x="4072922" y="2594920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36" name="Freeform 535"/>
              <p:cNvSpPr>
                <a:spLocks/>
              </p:cNvSpPr>
              <p:nvPr/>
            </p:nvSpPr>
            <p:spPr bwMode="auto">
              <a:xfrm>
                <a:off x="4073194" y="2594931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37" name="Freeform 536"/>
              <p:cNvSpPr>
                <a:spLocks/>
              </p:cNvSpPr>
              <p:nvPr/>
            </p:nvSpPr>
            <p:spPr bwMode="auto">
              <a:xfrm>
                <a:off x="4073178" y="2594923"/>
                <a:ext cx="296" cy="272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41" name="Group 340"/>
          <p:cNvGrpSpPr>
            <a:grpSpLocks/>
          </p:cNvGrpSpPr>
          <p:nvPr/>
        </p:nvGrpSpPr>
        <p:grpSpPr bwMode="auto">
          <a:xfrm rot="166939">
            <a:off x="4442555" y="3488368"/>
            <a:ext cx="1176785" cy="222619"/>
            <a:chOff x="4940569" y="2574408"/>
            <a:chExt cx="544" cy="344"/>
          </a:xfrm>
        </p:grpSpPr>
        <p:sp>
          <p:nvSpPr>
            <p:cNvPr id="529" name="Freeform 528"/>
            <p:cNvSpPr>
              <a:spLocks/>
            </p:cNvSpPr>
            <p:nvPr/>
          </p:nvSpPr>
          <p:spPr bwMode="auto">
            <a:xfrm>
              <a:off x="4940569" y="2574408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530" name="Group 529"/>
            <p:cNvGrpSpPr>
              <a:grpSpLocks/>
            </p:cNvGrpSpPr>
            <p:nvPr/>
          </p:nvGrpSpPr>
          <p:grpSpPr bwMode="auto">
            <a:xfrm>
              <a:off x="4940577" y="2574477"/>
              <a:ext cx="536" cy="275"/>
              <a:chOff x="4940577" y="2574477"/>
              <a:chExt cx="536" cy="275"/>
            </a:xfrm>
          </p:grpSpPr>
          <p:sp>
            <p:nvSpPr>
              <p:cNvPr id="531" name="Freeform 530"/>
              <p:cNvSpPr>
                <a:spLocks/>
              </p:cNvSpPr>
              <p:nvPr/>
            </p:nvSpPr>
            <p:spPr bwMode="auto">
              <a:xfrm>
                <a:off x="4940577" y="2574477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32" name="Freeform 531"/>
              <p:cNvSpPr>
                <a:spLocks/>
              </p:cNvSpPr>
              <p:nvPr/>
            </p:nvSpPr>
            <p:spPr bwMode="auto">
              <a:xfrm>
                <a:off x="4940849" y="2574488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42" name="Group 341"/>
          <p:cNvGrpSpPr>
            <a:grpSpLocks/>
          </p:cNvGrpSpPr>
          <p:nvPr/>
        </p:nvGrpSpPr>
        <p:grpSpPr bwMode="auto">
          <a:xfrm>
            <a:off x="5297884" y="3522389"/>
            <a:ext cx="1211134" cy="212685"/>
            <a:chOff x="5776512" y="2607989"/>
            <a:chExt cx="560" cy="350"/>
          </a:xfrm>
        </p:grpSpPr>
        <p:sp>
          <p:nvSpPr>
            <p:cNvPr id="388" name="Freeform 387"/>
            <p:cNvSpPr>
              <a:spLocks/>
            </p:cNvSpPr>
            <p:nvPr/>
          </p:nvSpPr>
          <p:spPr bwMode="auto">
            <a:xfrm>
              <a:off x="5776512" y="2607995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389" name="Group 388"/>
            <p:cNvGrpSpPr>
              <a:grpSpLocks/>
            </p:cNvGrpSpPr>
            <p:nvPr/>
          </p:nvGrpSpPr>
          <p:grpSpPr bwMode="auto">
            <a:xfrm>
              <a:off x="5776560" y="2607989"/>
              <a:ext cx="512" cy="350"/>
              <a:chOff x="5776560" y="2607989"/>
              <a:chExt cx="512" cy="350"/>
            </a:xfrm>
          </p:grpSpPr>
          <p:sp>
            <p:nvSpPr>
              <p:cNvPr id="526" name="Freeform 525"/>
              <p:cNvSpPr>
                <a:spLocks/>
              </p:cNvSpPr>
              <p:nvPr/>
            </p:nvSpPr>
            <p:spPr bwMode="auto">
              <a:xfrm>
                <a:off x="5776560" y="2607989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27" name="Freeform 526"/>
              <p:cNvSpPr>
                <a:spLocks/>
              </p:cNvSpPr>
              <p:nvPr/>
            </p:nvSpPr>
            <p:spPr bwMode="auto">
              <a:xfrm>
                <a:off x="5776792" y="2608075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28" name="Freeform 527"/>
              <p:cNvSpPr>
                <a:spLocks/>
              </p:cNvSpPr>
              <p:nvPr/>
            </p:nvSpPr>
            <p:spPr bwMode="auto">
              <a:xfrm>
                <a:off x="5776776" y="2608067"/>
                <a:ext cx="296" cy="272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43" name="Group 342"/>
          <p:cNvGrpSpPr>
            <a:grpSpLocks/>
          </p:cNvGrpSpPr>
          <p:nvPr/>
        </p:nvGrpSpPr>
        <p:grpSpPr bwMode="auto">
          <a:xfrm>
            <a:off x="6180988" y="3524427"/>
            <a:ext cx="1355513" cy="204915"/>
            <a:chOff x="6669930" y="2610027"/>
            <a:chExt cx="560" cy="344"/>
          </a:xfrm>
        </p:grpSpPr>
        <p:sp>
          <p:nvSpPr>
            <p:cNvPr id="383" name="Freeform 382"/>
            <p:cNvSpPr>
              <a:spLocks/>
            </p:cNvSpPr>
            <p:nvPr/>
          </p:nvSpPr>
          <p:spPr bwMode="auto">
            <a:xfrm>
              <a:off x="6669930" y="2610027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384" name="Group 383"/>
            <p:cNvGrpSpPr>
              <a:grpSpLocks/>
            </p:cNvGrpSpPr>
            <p:nvPr/>
          </p:nvGrpSpPr>
          <p:grpSpPr bwMode="auto">
            <a:xfrm>
              <a:off x="6669938" y="2610096"/>
              <a:ext cx="552" cy="275"/>
              <a:chOff x="6669938" y="2610096"/>
              <a:chExt cx="552" cy="275"/>
            </a:xfrm>
          </p:grpSpPr>
          <p:sp>
            <p:nvSpPr>
              <p:cNvPr id="385" name="Freeform 384"/>
              <p:cNvSpPr>
                <a:spLocks/>
              </p:cNvSpPr>
              <p:nvPr/>
            </p:nvSpPr>
            <p:spPr bwMode="auto">
              <a:xfrm>
                <a:off x="6669938" y="2610096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6" name="Freeform 385"/>
              <p:cNvSpPr>
                <a:spLocks/>
              </p:cNvSpPr>
              <p:nvPr/>
            </p:nvSpPr>
            <p:spPr bwMode="auto">
              <a:xfrm>
                <a:off x="6670210" y="2610107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7" name="Freeform 386"/>
              <p:cNvSpPr>
                <a:spLocks/>
              </p:cNvSpPr>
              <p:nvPr/>
            </p:nvSpPr>
            <p:spPr bwMode="auto">
              <a:xfrm>
                <a:off x="6670194" y="2610099"/>
                <a:ext cx="296" cy="272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grpSp>
        <p:nvGrpSpPr>
          <p:cNvPr id="344" name="Group 343"/>
          <p:cNvGrpSpPr>
            <a:grpSpLocks/>
          </p:cNvGrpSpPr>
          <p:nvPr/>
        </p:nvGrpSpPr>
        <p:grpSpPr bwMode="auto">
          <a:xfrm>
            <a:off x="7044465" y="3520878"/>
            <a:ext cx="1355513" cy="204915"/>
            <a:chOff x="7519980" y="2606478"/>
            <a:chExt cx="560" cy="344"/>
          </a:xfrm>
        </p:grpSpPr>
        <p:sp>
          <p:nvSpPr>
            <p:cNvPr id="378" name="Freeform 377"/>
            <p:cNvSpPr>
              <a:spLocks/>
            </p:cNvSpPr>
            <p:nvPr/>
          </p:nvSpPr>
          <p:spPr bwMode="auto">
            <a:xfrm>
              <a:off x="7519980" y="2606478"/>
              <a:ext cx="360" cy="344"/>
            </a:xfrm>
            <a:custGeom>
              <a:avLst/>
              <a:gdLst>
                <a:gd name="T0" fmla="*/ 0 w 360"/>
                <a:gd name="T1" fmla="*/ 96 h 344"/>
                <a:gd name="T2" fmla="*/ 120 w 360"/>
                <a:gd name="T3" fmla="*/ 24 h 344"/>
                <a:gd name="T4" fmla="*/ 232 w 360"/>
                <a:gd name="T5" fmla="*/ 56 h 344"/>
                <a:gd name="T6" fmla="*/ 296 w 360"/>
                <a:gd name="T7" fmla="*/ 0 h 344"/>
                <a:gd name="T8" fmla="*/ 360 w 360"/>
                <a:gd name="T9" fmla="*/ 112 h 344"/>
                <a:gd name="T10" fmla="*/ 360 w 360"/>
                <a:gd name="T11" fmla="*/ 256 h 344"/>
                <a:gd name="T12" fmla="*/ 320 w 360"/>
                <a:gd name="T13" fmla="*/ 288 h 344"/>
                <a:gd name="T14" fmla="*/ 256 w 360"/>
                <a:gd name="T15" fmla="*/ 344 h 344"/>
                <a:gd name="T16" fmla="*/ 264 w 360"/>
                <a:gd name="T17" fmla="*/ 280 h 344"/>
                <a:gd name="T18" fmla="*/ 296 w 360"/>
                <a:gd name="T19" fmla="*/ 200 h 344"/>
                <a:gd name="T20" fmla="*/ 272 w 360"/>
                <a:gd name="T21" fmla="*/ 96 h 344"/>
                <a:gd name="T22" fmla="*/ 208 w 360"/>
                <a:gd name="T23" fmla="*/ 144 h 344"/>
                <a:gd name="T24" fmla="*/ 160 w 360"/>
                <a:gd name="T25" fmla="*/ 104 h 344"/>
                <a:gd name="T26" fmla="*/ 56 w 360"/>
                <a:gd name="T27" fmla="*/ 96 h 344"/>
                <a:gd name="T28" fmla="*/ 0 w 360"/>
                <a:gd name="T29" fmla="*/ 96 h 3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60"/>
                <a:gd name="T46" fmla="*/ 0 h 344"/>
                <a:gd name="T47" fmla="*/ 360 w 360"/>
                <a:gd name="T48" fmla="*/ 344 h 3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60" h="344">
                  <a:moveTo>
                    <a:pt x="0" y="96"/>
                  </a:moveTo>
                  <a:lnTo>
                    <a:pt x="120" y="24"/>
                  </a:lnTo>
                  <a:lnTo>
                    <a:pt x="232" y="56"/>
                  </a:lnTo>
                  <a:lnTo>
                    <a:pt x="296" y="0"/>
                  </a:lnTo>
                  <a:lnTo>
                    <a:pt x="360" y="112"/>
                  </a:lnTo>
                  <a:lnTo>
                    <a:pt x="360" y="256"/>
                  </a:lnTo>
                  <a:lnTo>
                    <a:pt x="320" y="288"/>
                  </a:lnTo>
                  <a:lnTo>
                    <a:pt x="256" y="344"/>
                  </a:lnTo>
                  <a:lnTo>
                    <a:pt x="264" y="280"/>
                  </a:lnTo>
                  <a:lnTo>
                    <a:pt x="296" y="200"/>
                  </a:lnTo>
                  <a:lnTo>
                    <a:pt x="272" y="96"/>
                  </a:lnTo>
                  <a:lnTo>
                    <a:pt x="208" y="144"/>
                  </a:lnTo>
                  <a:lnTo>
                    <a:pt x="160" y="104"/>
                  </a:lnTo>
                  <a:lnTo>
                    <a:pt x="56" y="96"/>
                  </a:lnTo>
                  <a:lnTo>
                    <a:pt x="0" y="96"/>
                  </a:lnTo>
                  <a:close/>
                </a:path>
              </a:pathLst>
            </a:cu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379" name="Group 378"/>
            <p:cNvGrpSpPr>
              <a:grpSpLocks/>
            </p:cNvGrpSpPr>
            <p:nvPr/>
          </p:nvGrpSpPr>
          <p:grpSpPr bwMode="auto">
            <a:xfrm>
              <a:off x="7519988" y="2606547"/>
              <a:ext cx="552" cy="275"/>
              <a:chOff x="7519988" y="2606547"/>
              <a:chExt cx="552" cy="275"/>
            </a:xfrm>
          </p:grpSpPr>
          <p:sp>
            <p:nvSpPr>
              <p:cNvPr id="380" name="Freeform 379"/>
              <p:cNvSpPr>
                <a:spLocks/>
              </p:cNvSpPr>
              <p:nvPr/>
            </p:nvSpPr>
            <p:spPr bwMode="auto">
              <a:xfrm>
                <a:off x="7519988" y="2606547"/>
                <a:ext cx="288" cy="275"/>
              </a:xfrm>
              <a:custGeom>
                <a:avLst/>
                <a:gdLst>
                  <a:gd name="T0" fmla="*/ 72 w 288"/>
                  <a:gd name="T1" fmla="*/ 19 h 275"/>
                  <a:gd name="T2" fmla="*/ 152 w 288"/>
                  <a:gd name="T3" fmla="*/ 27 h 275"/>
                  <a:gd name="T4" fmla="*/ 176 w 288"/>
                  <a:gd name="T5" fmla="*/ 83 h 275"/>
                  <a:gd name="T6" fmla="*/ 224 w 288"/>
                  <a:gd name="T7" fmla="*/ 75 h 275"/>
                  <a:gd name="T8" fmla="*/ 272 w 288"/>
                  <a:gd name="T9" fmla="*/ 35 h 275"/>
                  <a:gd name="T10" fmla="*/ 288 w 288"/>
                  <a:gd name="T11" fmla="*/ 155 h 275"/>
                  <a:gd name="T12" fmla="*/ 248 w 288"/>
                  <a:gd name="T13" fmla="*/ 219 h 275"/>
                  <a:gd name="T14" fmla="*/ 256 w 288"/>
                  <a:gd name="T15" fmla="*/ 275 h 275"/>
                  <a:gd name="T16" fmla="*/ 24 w 288"/>
                  <a:gd name="T17" fmla="*/ 275 h 275"/>
                  <a:gd name="T18" fmla="*/ 32 w 288"/>
                  <a:gd name="T19" fmla="*/ 155 h 275"/>
                  <a:gd name="T20" fmla="*/ 64 w 288"/>
                  <a:gd name="T21" fmla="*/ 91 h 275"/>
                  <a:gd name="T22" fmla="*/ 0 w 288"/>
                  <a:gd name="T23" fmla="*/ 35 h 275"/>
                  <a:gd name="T24" fmla="*/ 72 w 288"/>
                  <a:gd name="T25" fmla="*/ 19 h 27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88"/>
                  <a:gd name="T40" fmla="*/ 0 h 275"/>
                  <a:gd name="T41" fmla="*/ 288 w 288"/>
                  <a:gd name="T42" fmla="*/ 275 h 27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88" h="275">
                    <a:moveTo>
                      <a:pt x="72" y="19"/>
                    </a:moveTo>
                    <a:cubicBezTo>
                      <a:pt x="99" y="22"/>
                      <a:pt x="127" y="18"/>
                      <a:pt x="152" y="27"/>
                    </a:cubicBezTo>
                    <a:cubicBezTo>
                      <a:pt x="174" y="35"/>
                      <a:pt x="145" y="83"/>
                      <a:pt x="176" y="83"/>
                    </a:cubicBezTo>
                    <a:lnTo>
                      <a:pt x="224" y="75"/>
                    </a:lnTo>
                    <a:cubicBezTo>
                      <a:pt x="249" y="0"/>
                      <a:pt x="225" y="35"/>
                      <a:pt x="272" y="35"/>
                    </a:cubicBezTo>
                    <a:lnTo>
                      <a:pt x="288" y="155"/>
                    </a:lnTo>
                    <a:lnTo>
                      <a:pt x="248" y="219"/>
                    </a:lnTo>
                    <a:lnTo>
                      <a:pt x="256" y="275"/>
                    </a:lnTo>
                    <a:lnTo>
                      <a:pt x="24" y="275"/>
                    </a:lnTo>
                    <a:lnTo>
                      <a:pt x="32" y="155"/>
                    </a:lnTo>
                    <a:lnTo>
                      <a:pt x="64" y="91"/>
                    </a:lnTo>
                    <a:lnTo>
                      <a:pt x="0" y="35"/>
                    </a:lnTo>
                    <a:lnTo>
                      <a:pt x="72" y="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1" name="Freeform 380"/>
              <p:cNvSpPr>
                <a:spLocks/>
              </p:cNvSpPr>
              <p:nvPr/>
            </p:nvSpPr>
            <p:spPr bwMode="auto">
              <a:xfrm>
                <a:off x="7520260" y="2606558"/>
                <a:ext cx="264" cy="224"/>
              </a:xfrm>
              <a:custGeom>
                <a:avLst/>
                <a:gdLst>
                  <a:gd name="T0" fmla="*/ 0 w 264"/>
                  <a:gd name="T1" fmla="*/ 64 h 224"/>
                  <a:gd name="T2" fmla="*/ 112 w 264"/>
                  <a:gd name="T3" fmla="*/ 0 h 224"/>
                  <a:gd name="T4" fmla="*/ 192 w 264"/>
                  <a:gd name="T5" fmla="*/ 48 h 224"/>
                  <a:gd name="T6" fmla="*/ 264 w 264"/>
                  <a:gd name="T7" fmla="*/ 48 h 224"/>
                  <a:gd name="T8" fmla="*/ 240 w 264"/>
                  <a:gd name="T9" fmla="*/ 224 h 224"/>
                  <a:gd name="T10" fmla="*/ 120 w 264"/>
                  <a:gd name="T11" fmla="*/ 208 h 224"/>
                  <a:gd name="T12" fmla="*/ 16 w 264"/>
                  <a:gd name="T13" fmla="*/ 192 h 224"/>
                  <a:gd name="T14" fmla="*/ 0 w 264"/>
                  <a:gd name="T15" fmla="*/ 64 h 2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4"/>
                  <a:gd name="T25" fmla="*/ 0 h 224"/>
                  <a:gd name="T26" fmla="*/ 264 w 264"/>
                  <a:gd name="T27" fmla="*/ 224 h 2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4" h="224">
                    <a:moveTo>
                      <a:pt x="0" y="64"/>
                    </a:moveTo>
                    <a:cubicBezTo>
                      <a:pt x="37" y="39"/>
                      <a:pt x="72" y="20"/>
                      <a:pt x="112" y="0"/>
                    </a:cubicBezTo>
                    <a:lnTo>
                      <a:pt x="192" y="48"/>
                    </a:lnTo>
                    <a:lnTo>
                      <a:pt x="264" y="48"/>
                    </a:lnTo>
                    <a:lnTo>
                      <a:pt x="240" y="224"/>
                    </a:lnTo>
                    <a:lnTo>
                      <a:pt x="120" y="208"/>
                    </a:lnTo>
                    <a:lnTo>
                      <a:pt x="16" y="192"/>
                    </a:lnTo>
                    <a:lnTo>
                      <a:pt x="0" y="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2" name="Freeform 381"/>
              <p:cNvSpPr>
                <a:spLocks/>
              </p:cNvSpPr>
              <p:nvPr/>
            </p:nvSpPr>
            <p:spPr bwMode="auto">
              <a:xfrm>
                <a:off x="7520244" y="2606550"/>
                <a:ext cx="296" cy="272"/>
              </a:xfrm>
              <a:custGeom>
                <a:avLst/>
                <a:gdLst>
                  <a:gd name="T0" fmla="*/ 0 w 296"/>
                  <a:gd name="T1" fmla="*/ 104 h 272"/>
                  <a:gd name="T2" fmla="*/ 72 w 296"/>
                  <a:gd name="T3" fmla="*/ 32 h 272"/>
                  <a:gd name="T4" fmla="*/ 144 w 296"/>
                  <a:gd name="T5" fmla="*/ 0 h 272"/>
                  <a:gd name="T6" fmla="*/ 200 w 296"/>
                  <a:gd name="T7" fmla="*/ 32 h 272"/>
                  <a:gd name="T8" fmla="*/ 296 w 296"/>
                  <a:gd name="T9" fmla="*/ 32 h 272"/>
                  <a:gd name="T10" fmla="*/ 280 w 296"/>
                  <a:gd name="T11" fmla="*/ 208 h 272"/>
                  <a:gd name="T12" fmla="*/ 224 w 296"/>
                  <a:gd name="T13" fmla="*/ 272 h 272"/>
                  <a:gd name="T14" fmla="*/ 232 w 296"/>
                  <a:gd name="T15" fmla="*/ 104 h 272"/>
                  <a:gd name="T16" fmla="*/ 160 w 296"/>
                  <a:gd name="T17" fmla="*/ 104 h 272"/>
                  <a:gd name="T18" fmla="*/ 96 w 296"/>
                  <a:gd name="T19" fmla="*/ 64 h 272"/>
                  <a:gd name="T20" fmla="*/ 0 w 296"/>
                  <a:gd name="T21" fmla="*/ 104 h 27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96"/>
                  <a:gd name="T34" fmla="*/ 0 h 272"/>
                  <a:gd name="T35" fmla="*/ 296 w 296"/>
                  <a:gd name="T36" fmla="*/ 272 h 27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96" h="272">
                    <a:moveTo>
                      <a:pt x="0" y="104"/>
                    </a:moveTo>
                    <a:lnTo>
                      <a:pt x="72" y="32"/>
                    </a:lnTo>
                    <a:lnTo>
                      <a:pt x="144" y="0"/>
                    </a:lnTo>
                    <a:lnTo>
                      <a:pt x="200" y="32"/>
                    </a:lnTo>
                    <a:lnTo>
                      <a:pt x="296" y="32"/>
                    </a:lnTo>
                    <a:lnTo>
                      <a:pt x="280" y="208"/>
                    </a:lnTo>
                    <a:lnTo>
                      <a:pt x="224" y="272"/>
                    </a:lnTo>
                    <a:lnTo>
                      <a:pt x="232" y="104"/>
                    </a:lnTo>
                    <a:lnTo>
                      <a:pt x="160" y="104"/>
                    </a:lnTo>
                    <a:lnTo>
                      <a:pt x="96" y="64"/>
                    </a:lnTo>
                    <a:lnTo>
                      <a:pt x="0" y="1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595959"/>
                  </a:gs>
                  <a:gs pos="50000">
                    <a:srgbClr val="C0C0C0"/>
                  </a:gs>
                  <a:gs pos="100000">
                    <a:srgbClr val="595959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345" name="Text Box 129"/>
          <p:cNvSpPr txBox="1">
            <a:spLocks noChangeArrowheads="1"/>
          </p:cNvSpPr>
          <p:nvPr/>
        </p:nvSpPr>
        <p:spPr bwMode="auto">
          <a:xfrm>
            <a:off x="3941302" y="3148681"/>
            <a:ext cx="156097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Membuat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hasil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reject</a:t>
            </a:r>
            <a:endParaRPr lang="en-US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46" name="Picture 345" descr="an00435_"/>
          <p:cNvPicPr>
            <a:picLocks noChangeAspect="1" noChangeArrowheads="1"/>
          </p:cNvPicPr>
          <p:nvPr/>
        </p:nvPicPr>
        <p:blipFill>
          <a:blip r:embed="rId3" cstate="print"/>
          <a:srcRect l="-7260" r="66399"/>
          <a:stretch>
            <a:fillRect/>
          </a:stretch>
        </p:blipFill>
        <p:spPr bwMode="auto">
          <a:xfrm>
            <a:off x="-4259" y="3172316"/>
            <a:ext cx="617975" cy="810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7" name="Picture 346" descr="an00435_"/>
          <p:cNvPicPr>
            <a:picLocks noChangeAspect="1" noChangeArrowheads="1"/>
          </p:cNvPicPr>
          <p:nvPr/>
        </p:nvPicPr>
        <p:blipFill>
          <a:blip r:embed="rId3" cstate="print"/>
          <a:srcRect l="69354"/>
          <a:stretch>
            <a:fillRect/>
          </a:stretch>
        </p:blipFill>
        <p:spPr bwMode="auto">
          <a:xfrm>
            <a:off x="8281737" y="2935626"/>
            <a:ext cx="776732" cy="1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" name="Cloud Callout 347"/>
          <p:cNvSpPr/>
          <p:nvPr/>
        </p:nvSpPr>
        <p:spPr>
          <a:xfrm>
            <a:off x="7069765" y="2801357"/>
            <a:ext cx="2059934" cy="820223"/>
          </a:xfrm>
          <a:prstGeom prst="cloudCallout">
            <a:avLst>
              <a:gd name="adj1" fmla="val 18070"/>
              <a:gd name="adj2" fmla="val 7409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latin typeface="Berlin Sans FB" panose="020E0602020502020306" pitchFamily="34" charset="0"/>
              </a:rPr>
              <a:t>Banyaknya</a:t>
            </a:r>
            <a:r>
              <a:rPr lang="en-US" dirty="0">
                <a:latin typeface="Berlin Sans FB" panose="020E0602020502020306" pitchFamily="34" charset="0"/>
              </a:rPr>
              <a:t> reject peel off plating L8467 di </a:t>
            </a:r>
            <a:r>
              <a:rPr lang="en-US" dirty="0" err="1">
                <a:latin typeface="Berlin Sans FB" panose="020E0602020502020306" pitchFamily="34" charset="0"/>
              </a:rPr>
              <a:t>Lumenis</a:t>
            </a:r>
            <a:r>
              <a:rPr lang="en-US" dirty="0">
                <a:latin typeface="Berlin Sans FB" panose="020E0602020502020306" pitchFamily="34" charset="0"/>
              </a:rPr>
              <a:t> Customer</a:t>
            </a:r>
          </a:p>
        </p:txBody>
      </p:sp>
      <p:sp>
        <p:nvSpPr>
          <p:cNvPr id="354" name="Text Box 221"/>
          <p:cNvSpPr txBox="1">
            <a:spLocks noChangeArrowheads="1"/>
          </p:cNvSpPr>
          <p:nvPr/>
        </p:nvSpPr>
        <p:spPr bwMode="auto">
          <a:xfrm>
            <a:off x="7883308" y="4715967"/>
            <a:ext cx="1114839" cy="301621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Suhu</a:t>
            </a:r>
            <a:r>
              <a:rPr lang="en-US" sz="8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sering</a:t>
            </a:r>
            <a:r>
              <a:rPr lang="en-US" sz="8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8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stabil</a:t>
            </a:r>
            <a:endParaRPr lang="en-US" sz="800" b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5" name="Text Box 261"/>
          <p:cNvSpPr txBox="1">
            <a:spLocks noChangeArrowheads="1"/>
          </p:cNvSpPr>
          <p:nvPr/>
        </p:nvSpPr>
        <p:spPr bwMode="auto">
          <a:xfrm>
            <a:off x="7440046" y="1769518"/>
            <a:ext cx="1466802" cy="338554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Desain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sesuai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Customer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req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under NPI</a:t>
            </a:r>
          </a:p>
        </p:txBody>
      </p:sp>
      <p:sp>
        <p:nvSpPr>
          <p:cNvPr id="356" name="8-Point Star 355"/>
          <p:cNvSpPr/>
          <p:nvPr/>
        </p:nvSpPr>
        <p:spPr bwMode="auto">
          <a:xfrm>
            <a:off x="4987696" y="1876593"/>
            <a:ext cx="390207" cy="360522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>
                <a:solidFill>
                  <a:srgbClr val="C00000"/>
                </a:solidFill>
                <a:latin typeface="Arial Narrow" pitchFamily="34" charset="0"/>
                <a:ea typeface="ＭＳ Ｐゴシック" pitchFamily="112" charset="-128"/>
              </a:rPr>
              <a:t>3</a:t>
            </a:r>
            <a:endParaRPr kumimoji="0" lang="en-US" sz="800" b="1" i="0" u="none" strike="noStrike" kern="0" cap="none" spc="0" normalizeH="0" baseline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itchFamily="34" charset="0"/>
              <a:ea typeface="ＭＳ Ｐゴシック" pitchFamily="112" charset="-128"/>
            </a:endParaRPr>
          </a:p>
        </p:txBody>
      </p:sp>
      <p:sp>
        <p:nvSpPr>
          <p:cNvPr id="357" name="8-Point Star 356"/>
          <p:cNvSpPr/>
          <p:nvPr/>
        </p:nvSpPr>
        <p:spPr bwMode="auto">
          <a:xfrm>
            <a:off x="8633144" y="1629535"/>
            <a:ext cx="289259" cy="313328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>
                <a:solidFill>
                  <a:srgbClr val="C00000"/>
                </a:solidFill>
                <a:latin typeface="Arial Narrow" pitchFamily="34" charset="0"/>
                <a:ea typeface="ＭＳ Ｐゴシック" pitchFamily="112" charset="-128"/>
              </a:rPr>
              <a:t>1</a:t>
            </a:r>
            <a:endParaRPr kumimoji="0" lang="en-US" sz="800" b="1" i="0" u="none" strike="noStrike" kern="0" cap="none" spc="0" normalizeH="0" baseline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itchFamily="34" charset="0"/>
              <a:ea typeface="ＭＳ Ｐゴシック" pitchFamily="112" charset="-128"/>
            </a:endParaRPr>
          </a:p>
        </p:txBody>
      </p:sp>
      <p:sp>
        <p:nvSpPr>
          <p:cNvPr id="358" name="Line 99"/>
          <p:cNvSpPr>
            <a:spLocks noChangeShapeType="1"/>
          </p:cNvSpPr>
          <p:nvPr/>
        </p:nvSpPr>
        <p:spPr bwMode="auto">
          <a:xfrm flipV="1">
            <a:off x="7483154" y="4620005"/>
            <a:ext cx="211483" cy="538055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9" name="Line 121"/>
          <p:cNvSpPr>
            <a:spLocks noChangeShapeType="1"/>
          </p:cNvSpPr>
          <p:nvPr/>
        </p:nvSpPr>
        <p:spPr bwMode="auto">
          <a:xfrm flipH="1">
            <a:off x="7292017" y="1818148"/>
            <a:ext cx="214313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0" name="Line 121"/>
          <p:cNvSpPr>
            <a:spLocks noChangeShapeType="1"/>
          </p:cNvSpPr>
          <p:nvPr/>
        </p:nvSpPr>
        <p:spPr bwMode="auto">
          <a:xfrm flipH="1">
            <a:off x="7639542" y="4814351"/>
            <a:ext cx="218795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1" name="Text Box 74"/>
          <p:cNvSpPr txBox="1">
            <a:spLocks noChangeArrowheads="1"/>
          </p:cNvSpPr>
          <p:nvPr/>
        </p:nvSpPr>
        <p:spPr bwMode="auto">
          <a:xfrm>
            <a:off x="7797742" y="4389407"/>
            <a:ext cx="1336927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780" b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membutuhkan</a:t>
            </a:r>
            <a:r>
              <a:rPr lang="en-US" sz="78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78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waktu</a:t>
            </a:r>
            <a:r>
              <a:rPr lang="en-US" sz="78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78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saat</a:t>
            </a:r>
            <a:r>
              <a:rPr lang="en-US" sz="78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setting</a:t>
            </a:r>
            <a:endParaRPr lang="en-US" sz="78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2" name="Text Box 74"/>
          <p:cNvSpPr txBox="1">
            <a:spLocks noChangeArrowheads="1"/>
          </p:cNvSpPr>
          <p:nvPr/>
        </p:nvSpPr>
        <p:spPr bwMode="auto">
          <a:xfrm>
            <a:off x="7051901" y="5505896"/>
            <a:ext cx="1907649" cy="21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780" dirty="0" err="1">
                <a:latin typeface="Arial" pitchFamily="34" charset="0"/>
                <a:cs typeface="Arial" pitchFamily="34" charset="0"/>
              </a:rPr>
              <a:t>Suhu</a:t>
            </a:r>
            <a:r>
              <a:rPr lang="en-US" sz="780" dirty="0">
                <a:latin typeface="Arial" pitchFamily="34" charset="0"/>
                <a:cs typeface="Arial" pitchFamily="34" charset="0"/>
              </a:rPr>
              <a:t> lama </a:t>
            </a:r>
            <a:r>
              <a:rPr lang="en-US" sz="780" dirty="0" err="1">
                <a:latin typeface="Arial" pitchFamily="34" charset="0"/>
                <a:cs typeface="Arial" pitchFamily="34" charset="0"/>
              </a:rPr>
              <a:t>naik</a:t>
            </a:r>
            <a:endParaRPr lang="en-US" sz="78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3" name="Rectangle 362"/>
          <p:cNvSpPr/>
          <p:nvPr/>
        </p:nvSpPr>
        <p:spPr>
          <a:xfrm>
            <a:off x="7457186" y="2471354"/>
            <a:ext cx="1524205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latin typeface="Arial" pitchFamily="34" charset="0"/>
                <a:cs typeface="Arial" pitchFamily="34" charset="0"/>
              </a:rPr>
              <a:t>Untuk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device lain</a:t>
            </a:r>
            <a:endParaRPr lang="en-US" sz="800" dirty="0"/>
          </a:p>
        </p:txBody>
      </p:sp>
      <p:sp>
        <p:nvSpPr>
          <p:cNvPr id="364" name="8-Point Star 363"/>
          <p:cNvSpPr/>
          <p:nvPr/>
        </p:nvSpPr>
        <p:spPr bwMode="auto">
          <a:xfrm>
            <a:off x="8727141" y="4658139"/>
            <a:ext cx="399926" cy="389528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itchFamily="34" charset="0"/>
                <a:ea typeface="ＭＳ Ｐゴシック" pitchFamily="112" charset="-128"/>
              </a:rPr>
              <a:t>8</a:t>
            </a:r>
          </a:p>
        </p:txBody>
      </p:sp>
      <p:sp>
        <p:nvSpPr>
          <p:cNvPr id="365" name="Line 101"/>
          <p:cNvSpPr>
            <a:spLocks noChangeShapeType="1"/>
          </p:cNvSpPr>
          <p:nvPr/>
        </p:nvSpPr>
        <p:spPr bwMode="auto">
          <a:xfrm>
            <a:off x="2924055" y="2218059"/>
            <a:ext cx="254000" cy="3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6" name="Line 12"/>
          <p:cNvSpPr>
            <a:spLocks noChangeShapeType="1"/>
          </p:cNvSpPr>
          <p:nvPr/>
        </p:nvSpPr>
        <p:spPr bwMode="auto">
          <a:xfrm flipH="1" flipV="1">
            <a:off x="2959105" y="1773727"/>
            <a:ext cx="371477" cy="914402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8" name="Text Box 13"/>
          <p:cNvSpPr txBox="1">
            <a:spLocks noChangeArrowheads="1"/>
          </p:cNvSpPr>
          <p:nvPr/>
        </p:nvSpPr>
        <p:spPr bwMode="auto">
          <a:xfrm>
            <a:off x="1806582" y="2016399"/>
            <a:ext cx="1179649" cy="301621"/>
          </a:xfrm>
          <a:prstGeom prst="rect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8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Quality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ni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plating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tidak</a:t>
            </a:r>
            <a:r>
              <a:rPr lang="en-US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bagus</a:t>
            </a:r>
            <a:endParaRPr lang="en-US" sz="800" b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9" name="Rectangle 368"/>
          <p:cNvSpPr/>
          <p:nvPr/>
        </p:nvSpPr>
        <p:spPr>
          <a:xfrm>
            <a:off x="1364481" y="1529970"/>
            <a:ext cx="1382746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 err="1">
                <a:latin typeface="Arial" pitchFamily="34" charset="0"/>
                <a:cs typeface="Arial" pitchFamily="34" charset="0"/>
              </a:rPr>
              <a:t>Tidak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tahu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fungsi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ni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plating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1915190" y="2597682"/>
            <a:ext cx="1457832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 err="1">
                <a:latin typeface="Arial" pitchFamily="34" charset="0"/>
                <a:cs typeface="Arial" pitchFamily="34" charset="0"/>
              </a:rPr>
              <a:t>Hanya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focus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waktu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00" dirty="0" err="1">
                <a:latin typeface="Arial" pitchFamily="34" charset="0"/>
                <a:cs typeface="Arial" pitchFamily="34" charset="0"/>
              </a:rPr>
              <a:t>ni</a:t>
            </a:r>
            <a:r>
              <a:rPr lang="en-US" sz="800" dirty="0">
                <a:latin typeface="Arial" pitchFamily="34" charset="0"/>
                <a:cs typeface="Arial" pitchFamily="34" charset="0"/>
              </a:rPr>
              <a:t> plating</a:t>
            </a:r>
          </a:p>
        </p:txBody>
      </p:sp>
      <p:sp>
        <p:nvSpPr>
          <p:cNvPr id="372" name="8-Point Star 371"/>
          <p:cNvSpPr/>
          <p:nvPr/>
        </p:nvSpPr>
        <p:spPr bwMode="auto">
          <a:xfrm>
            <a:off x="1837959" y="1830812"/>
            <a:ext cx="343257" cy="364363"/>
          </a:xfrm>
          <a:prstGeom prst="star8">
            <a:avLst>
              <a:gd name="adj" fmla="val 37500"/>
            </a:avLst>
          </a:prstGeom>
          <a:solidFill>
            <a:srgbClr val="FFFF00"/>
          </a:solidFill>
          <a:ln>
            <a:solidFill>
              <a:srgbClr val="003300"/>
            </a:solidFill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itchFamily="34" charset="0"/>
                <a:ea typeface="ＭＳ Ｐゴシック" pitchFamily="112" charset="-128"/>
                <a:cs typeface="+mn-cs"/>
              </a:rPr>
              <a:t>4</a:t>
            </a:r>
          </a:p>
        </p:txBody>
      </p:sp>
      <p:sp>
        <p:nvSpPr>
          <p:cNvPr id="373" name="Line 88"/>
          <p:cNvSpPr>
            <a:spLocks noChangeShapeType="1"/>
          </p:cNvSpPr>
          <p:nvPr/>
        </p:nvSpPr>
        <p:spPr bwMode="auto">
          <a:xfrm flipH="1" flipV="1">
            <a:off x="2968631" y="1516554"/>
            <a:ext cx="639117" cy="16021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4" name="Line 97"/>
          <p:cNvSpPr>
            <a:spLocks noChangeShapeType="1"/>
          </p:cNvSpPr>
          <p:nvPr/>
        </p:nvSpPr>
        <p:spPr bwMode="auto">
          <a:xfrm flipV="1">
            <a:off x="2733555" y="1420713"/>
            <a:ext cx="29010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75" name="Straight Arrow Connector 374"/>
          <p:cNvCxnSpPr/>
          <p:nvPr/>
        </p:nvCxnSpPr>
        <p:spPr>
          <a:xfrm>
            <a:off x="2700482" y="1711176"/>
            <a:ext cx="251149" cy="0"/>
          </a:xfrm>
          <a:prstGeom prst="straightConnector1">
            <a:avLst/>
          </a:prstGeom>
          <a:ln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Line 101"/>
          <p:cNvSpPr>
            <a:spLocks noChangeShapeType="1"/>
          </p:cNvSpPr>
          <p:nvPr/>
        </p:nvSpPr>
        <p:spPr bwMode="auto">
          <a:xfrm flipV="1">
            <a:off x="6804218" y="4502899"/>
            <a:ext cx="247683" cy="551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7" name="Text Box 74"/>
          <p:cNvSpPr txBox="1">
            <a:spLocks noChangeArrowheads="1"/>
          </p:cNvSpPr>
          <p:nvPr/>
        </p:nvSpPr>
        <p:spPr bwMode="auto">
          <a:xfrm>
            <a:off x="6173957" y="4906361"/>
            <a:ext cx="157498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itchFamily="34" charset="0"/>
                <a:cs typeface="Arial" pitchFamily="34" charset="0"/>
              </a:rPr>
              <a:t>Hitter Problem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4" name="Rounded Rectangular Callout 163"/>
          <p:cNvSpPr/>
          <p:nvPr/>
        </p:nvSpPr>
        <p:spPr>
          <a:xfrm>
            <a:off x="424212" y="737533"/>
            <a:ext cx="1602746" cy="269365"/>
          </a:xfrm>
          <a:prstGeom prst="wedgeRoundRectCallout">
            <a:avLst>
              <a:gd name="adj1" fmla="val -16745"/>
              <a:gd name="adj2" fmla="val 117018"/>
              <a:gd name="adj3" fmla="val 16667"/>
            </a:avLst>
          </a:prstGeom>
          <a:solidFill>
            <a:srgbClr val="1C2DAA"/>
          </a:solidFill>
          <a:ln>
            <a:solidFill>
              <a:srgbClr val="00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ENVIRONMENT By </a:t>
            </a:r>
            <a:r>
              <a:rPr lang="en-US" sz="1000" dirty="0" err="1"/>
              <a:t>Nurul</a:t>
            </a:r>
            <a:endParaRPr lang="en-US" sz="1000" dirty="0"/>
          </a:p>
        </p:txBody>
      </p:sp>
      <p:sp>
        <p:nvSpPr>
          <p:cNvPr id="165" name="Rounded Rectangular Callout 164"/>
          <p:cNvSpPr/>
          <p:nvPr/>
        </p:nvSpPr>
        <p:spPr>
          <a:xfrm>
            <a:off x="2609978" y="817041"/>
            <a:ext cx="1526088" cy="269365"/>
          </a:xfrm>
          <a:prstGeom prst="wedgeRoundRectCallout">
            <a:avLst>
              <a:gd name="adj1" fmla="val -22864"/>
              <a:gd name="adj2" fmla="val 88765"/>
              <a:gd name="adj3" fmla="val 16667"/>
            </a:avLst>
          </a:prstGeom>
          <a:solidFill>
            <a:schemeClr val="accent5">
              <a:lumMod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MAN by Martha</a:t>
            </a:r>
          </a:p>
        </p:txBody>
      </p:sp>
      <p:sp>
        <p:nvSpPr>
          <p:cNvPr id="166" name="Rounded Rectangular Callout 165"/>
          <p:cNvSpPr/>
          <p:nvPr/>
        </p:nvSpPr>
        <p:spPr>
          <a:xfrm>
            <a:off x="6575409" y="806216"/>
            <a:ext cx="1903243" cy="269365"/>
          </a:xfrm>
          <a:prstGeom prst="wedgeRoundRectCallout">
            <a:avLst>
              <a:gd name="adj1" fmla="val -38577"/>
              <a:gd name="adj2" fmla="val 84675"/>
              <a:gd name="adj3" fmla="val 16667"/>
            </a:avLst>
          </a:prstGeom>
          <a:solidFill>
            <a:srgbClr val="EE92F8"/>
          </a:solidFill>
          <a:ln>
            <a:solidFill>
              <a:srgbClr val="FF00F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MATERIAL by Vani</a:t>
            </a:r>
          </a:p>
        </p:txBody>
      </p:sp>
      <p:sp>
        <p:nvSpPr>
          <p:cNvPr id="167" name="Rounded Rectangular Callout 166"/>
          <p:cNvSpPr/>
          <p:nvPr/>
        </p:nvSpPr>
        <p:spPr>
          <a:xfrm>
            <a:off x="1303542" y="6022555"/>
            <a:ext cx="1821641" cy="242372"/>
          </a:xfrm>
          <a:prstGeom prst="wedgeRoundRectCallout">
            <a:avLst>
              <a:gd name="adj1" fmla="val -3780"/>
              <a:gd name="adj2" fmla="val -12683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METODE by Vani &amp; Martha</a:t>
            </a:r>
          </a:p>
        </p:txBody>
      </p:sp>
      <p:sp>
        <p:nvSpPr>
          <p:cNvPr id="168" name="Rounded Rectangular Callout 167"/>
          <p:cNvSpPr/>
          <p:nvPr/>
        </p:nvSpPr>
        <p:spPr>
          <a:xfrm>
            <a:off x="6317208" y="5983043"/>
            <a:ext cx="1782524" cy="269365"/>
          </a:xfrm>
          <a:prstGeom prst="wedgeRoundRectCallout">
            <a:avLst>
              <a:gd name="adj1" fmla="val -18736"/>
              <a:gd name="adj2" fmla="val -99372"/>
              <a:gd name="adj3" fmla="val 16667"/>
            </a:avLst>
          </a:prstGeom>
          <a:solidFill>
            <a:schemeClr val="accent4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MACHINE By </a:t>
            </a:r>
            <a:r>
              <a:rPr lang="en-US" sz="1400" dirty="0" err="1"/>
              <a:t>Andhika</a:t>
            </a:r>
            <a:endParaRPr lang="en-US" sz="1400" dirty="0"/>
          </a:p>
        </p:txBody>
      </p:sp>
      <p:sp>
        <p:nvSpPr>
          <p:cNvPr id="169" name="Text Box 39"/>
          <p:cNvSpPr txBox="1">
            <a:spLocks noChangeArrowheads="1"/>
          </p:cNvSpPr>
          <p:nvPr/>
        </p:nvSpPr>
        <p:spPr bwMode="auto">
          <a:xfrm>
            <a:off x="1331684" y="1283066"/>
            <a:ext cx="1437919" cy="26917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lnSpc>
                <a:spcPct val="75000"/>
              </a:lnSpc>
              <a:buFontTx/>
              <a:buNone/>
            </a:pPr>
            <a:r>
              <a:rPr lang="en-US" sz="8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Kurangnya</a:t>
            </a:r>
            <a:r>
              <a:rPr lang="en-US" sz="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pemahaman</a:t>
            </a:r>
            <a:r>
              <a:rPr lang="en-US" sz="800" b="1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1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tentang</a:t>
            </a:r>
            <a:r>
              <a:rPr lang="en-US" sz="800" b="1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proses</a:t>
            </a:r>
            <a:endParaRPr lang="en-US" sz="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0" name="Text Box 14"/>
          <p:cNvSpPr txBox="1">
            <a:spLocks noChangeArrowheads="1"/>
          </p:cNvSpPr>
          <p:nvPr/>
        </p:nvSpPr>
        <p:spPr bwMode="auto">
          <a:xfrm>
            <a:off x="2026958" y="2962963"/>
            <a:ext cx="1598195" cy="277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75000"/>
              </a:lnSpc>
            </a:pPr>
            <a:r>
              <a:rPr lang="en-US" sz="800" b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Butuh</a:t>
            </a:r>
            <a:r>
              <a:rPr lang="en-US" sz="80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training </a:t>
            </a:r>
            <a:r>
              <a:rPr lang="en-US" sz="80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lebih</a:t>
            </a:r>
            <a:r>
              <a:rPr lang="en-US" sz="80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dalam</a:t>
            </a:r>
            <a:r>
              <a:rPr lang="en-US" sz="80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tentang</a:t>
            </a:r>
            <a:r>
              <a:rPr lang="en-US" sz="80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800" b="0" baseline="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pentingnya</a:t>
            </a:r>
            <a:r>
              <a:rPr lang="en-US" sz="800" b="0" baseline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process</a:t>
            </a:r>
            <a:endParaRPr lang="en-US" sz="8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3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 noGrp="1"/>
          </p:cNvSpPr>
          <p:nvPr>
            <p:ph type="title"/>
          </p:nvPr>
        </p:nvSpPr>
        <p:spPr>
          <a:xfrm>
            <a:off x="1066800" y="274638"/>
            <a:ext cx="7391400" cy="563562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2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    VERIFIKASI KEMUNGKINAN PENYEBAB MASALAH</a:t>
            </a:r>
            <a:endParaRPr lang="en-US" sz="24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7030A0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4" name="Content Placeholder 13"/>
          <p:cNvSpPr txBox="1">
            <a:spLocks noGrp="1"/>
          </p:cNvSpPr>
          <p:nvPr>
            <p:ph idx="1"/>
          </p:nvPr>
        </p:nvSpPr>
        <p:spPr>
          <a:xfrm>
            <a:off x="2529173" y="4730355"/>
            <a:ext cx="6614827" cy="140346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0" indent="0" eaLnBrk="0" hangingPunct="0">
              <a:buNone/>
              <a:defRPr/>
            </a:pPr>
            <a:r>
              <a:rPr lang="en-US" sz="1500" b="1" dirty="0">
                <a:latin typeface="+mj-lt"/>
                <a:ea typeface="ＭＳ Ｐゴシック" pitchFamily="34" charset="-128"/>
              </a:rPr>
              <a:t>Dari </a:t>
            </a:r>
            <a:r>
              <a:rPr lang="en-US" sz="1500" dirty="0">
                <a:solidFill>
                  <a:srgbClr val="0000AC"/>
                </a:solidFill>
                <a:latin typeface="+mj-lt"/>
                <a:ea typeface="ＭＳ Ｐゴシック" pitchFamily="34" charset="-128"/>
              </a:rPr>
              <a:t>8</a:t>
            </a:r>
            <a:r>
              <a:rPr lang="en-US" sz="1500" b="1" dirty="0">
                <a:solidFill>
                  <a:srgbClr val="0000AC"/>
                </a:solidFill>
                <a:latin typeface="+mj-lt"/>
                <a:ea typeface="ＭＳ Ｐゴシック" pitchFamily="34" charset="-128"/>
              </a:rPr>
              <a:t> kemungkinan penyebab </a:t>
            </a:r>
            <a:r>
              <a:rPr lang="en-US" sz="1500" b="1" dirty="0" err="1">
                <a:solidFill>
                  <a:srgbClr val="0000AC"/>
                </a:solidFill>
                <a:latin typeface="+mj-lt"/>
                <a:ea typeface="ＭＳ Ｐゴシック" pitchFamily="34" charset="-128"/>
              </a:rPr>
              <a:t>masalah</a:t>
            </a:r>
            <a:r>
              <a:rPr lang="en-US" sz="1500" b="1" dirty="0">
                <a:solidFill>
                  <a:srgbClr val="0000AC"/>
                </a:solidFill>
                <a:latin typeface="+mj-lt"/>
                <a:ea typeface="ＭＳ Ｐゴシック" pitchFamily="34" charset="-128"/>
              </a:rPr>
              <a:t> 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yang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terdefinisi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dengan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fish-bone,</a:t>
            </a:r>
          </a:p>
          <a:p>
            <a:pPr marL="0" indent="0" eaLnBrk="0" hangingPunct="0">
              <a:buNone/>
              <a:defRPr/>
            </a:pPr>
            <a:r>
              <a:rPr lang="id-ID" sz="1500" b="1" dirty="0">
                <a:latin typeface="+mj-lt"/>
                <a:ea typeface="ＭＳ Ｐゴシック" pitchFamily="34" charset="-128"/>
              </a:rPr>
              <a:t>T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eam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melakukan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brainstorming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dan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di</a:t>
            </a:r>
            <a:r>
              <a:rPr lang="id-ID" sz="1500" b="1" dirty="0">
                <a:latin typeface="+mj-lt"/>
                <a:ea typeface="ＭＳ Ｐゴシック" pitchFamily="34" charset="-128"/>
              </a:rPr>
              <a:t>temukan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2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masalah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yang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perlu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ditindaklanjuti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, </a:t>
            </a:r>
            <a:r>
              <a:rPr lang="en-US" sz="1500" b="1" dirty="0" err="1">
                <a:latin typeface="+mj-lt"/>
                <a:ea typeface="ＭＳ Ｐゴシック" pitchFamily="34" charset="-128"/>
              </a:rPr>
              <a:t>yaitu</a:t>
            </a:r>
            <a:r>
              <a:rPr lang="en-US" sz="1500" b="1" dirty="0">
                <a:latin typeface="+mj-lt"/>
                <a:ea typeface="ＭＳ Ｐゴシック" pitchFamily="34" charset="-128"/>
              </a:rPr>
              <a:t> 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1</a:t>
            </a:r>
            <a:r>
              <a:rPr lang="en-US" sz="1600" b="1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. Quality Ni Plating </a:t>
            </a:r>
            <a:r>
              <a:rPr lang="en-US" sz="1600" b="1" dirty="0" err="1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Tidak</a:t>
            </a:r>
            <a:r>
              <a:rPr lang="en-US" sz="1600" b="1" dirty="0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+mj-lt"/>
                <a:ea typeface="ＭＳ Ｐゴシック" pitchFamily="34" charset="-128"/>
              </a:rPr>
              <a:t>bagus</a:t>
            </a:r>
            <a:endParaRPr lang="id-ID" sz="1600" b="1" dirty="0">
              <a:solidFill>
                <a:srgbClr val="C00000"/>
              </a:solidFill>
              <a:latin typeface="+mj-lt"/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2. </a:t>
            </a:r>
            <a:r>
              <a:rPr lang="id-ID" sz="15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C00000"/>
                </a:solidFill>
                <a:latin typeface="+mj-lt"/>
                <a:cs typeface="Arial" pitchFamily="34" charset="0"/>
              </a:rPr>
              <a:t>Tidak</a:t>
            </a:r>
            <a:r>
              <a:rPr lang="en-US" sz="1500" dirty="0">
                <a:solidFill>
                  <a:srgbClr val="C00000"/>
                </a:solidFill>
                <a:latin typeface="+mj-lt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C00000"/>
                </a:solidFill>
                <a:latin typeface="+mj-lt"/>
                <a:cs typeface="Arial" pitchFamily="34" charset="0"/>
              </a:rPr>
              <a:t>Maksimalnya</a:t>
            </a:r>
            <a:r>
              <a:rPr lang="en-US" sz="1500" dirty="0">
                <a:solidFill>
                  <a:srgbClr val="C00000"/>
                </a:solidFill>
                <a:latin typeface="+mj-lt"/>
                <a:cs typeface="Arial" pitchFamily="34" charset="0"/>
              </a:rPr>
              <a:t> Tinning Process</a:t>
            </a:r>
            <a:endParaRPr lang="en-US" sz="15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810151"/>
            <a:ext cx="446917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21039F"/>
                </a:solidFill>
              </a:rPr>
              <a:t>Grafik</a:t>
            </a:r>
            <a:r>
              <a:rPr lang="en-US" sz="1200" b="1" dirty="0">
                <a:solidFill>
                  <a:srgbClr val="21039F"/>
                </a:solidFill>
              </a:rPr>
              <a:t> total scoring </a:t>
            </a:r>
            <a:r>
              <a:rPr lang="en-US" sz="1200" b="1" dirty="0" err="1">
                <a:solidFill>
                  <a:srgbClr val="21039F"/>
                </a:solidFill>
              </a:rPr>
              <a:t>kemungkinan</a:t>
            </a:r>
            <a:r>
              <a:rPr lang="en-US" sz="1200" b="1" dirty="0">
                <a:solidFill>
                  <a:srgbClr val="21039F"/>
                </a:solidFill>
              </a:rPr>
              <a:t> </a:t>
            </a:r>
            <a:r>
              <a:rPr lang="en-US" sz="1200" b="1" dirty="0" err="1">
                <a:solidFill>
                  <a:srgbClr val="21039F"/>
                </a:solidFill>
              </a:rPr>
              <a:t>peyebab</a:t>
            </a:r>
            <a:r>
              <a:rPr lang="en-US" sz="1200" b="1" dirty="0">
                <a:solidFill>
                  <a:srgbClr val="21039F"/>
                </a:solidFill>
              </a:rPr>
              <a:t> </a:t>
            </a:r>
            <a:r>
              <a:rPr lang="en-US" sz="1200" b="1" dirty="0" err="1">
                <a:solidFill>
                  <a:srgbClr val="21039F"/>
                </a:solidFill>
              </a:rPr>
              <a:t>permasalahan</a:t>
            </a:r>
            <a:endParaRPr lang="en-US" sz="1200" b="1" dirty="0">
              <a:solidFill>
                <a:srgbClr val="21039F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446" y="4762532"/>
          <a:ext cx="2362200" cy="137160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86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9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SCORE</a:t>
                      </a:r>
                      <a:endParaRPr lang="en-US" sz="1600" b="1" dirty="0">
                        <a:solidFill>
                          <a:srgbClr val="0000FF"/>
                        </a:solidFill>
                        <a:latin typeface="Bodoni MT Black" pitchFamily="18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KATEGORI</a:t>
                      </a:r>
                      <a:endParaRPr lang="en-US" sz="1600" b="1" dirty="0">
                        <a:solidFill>
                          <a:srgbClr val="0000FF"/>
                        </a:solidFill>
                        <a:latin typeface="Bodoni MT Black" pitchFamily="18" charset="0"/>
                      </a:endParaRP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5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Tidak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Kritikal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5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Cukup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Kritikal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5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Sangat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Kritikal</a:t>
                      </a:r>
                      <a:endParaRPr lang="en-US" sz="14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4762500" y="2206211"/>
            <a:ext cx="266700" cy="1070389"/>
          </a:xfrm>
          <a:prstGeom prst="rightArrow">
            <a:avLst/>
          </a:prstGeom>
          <a:solidFill>
            <a:srgbClr val="0000AC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57"/>
          <p:cNvGrpSpPr>
            <a:grpSpLocks/>
          </p:cNvGrpSpPr>
          <p:nvPr/>
        </p:nvGrpSpPr>
        <p:grpSpPr bwMode="auto">
          <a:xfrm>
            <a:off x="0" y="1"/>
            <a:ext cx="1829289" cy="566428"/>
            <a:chOff x="0" y="0"/>
            <a:chExt cx="2066925" cy="695325"/>
          </a:xfrm>
          <a:solidFill>
            <a:srgbClr val="740298"/>
          </a:solidFill>
        </p:grpSpPr>
        <p:sp>
          <p:nvSpPr>
            <p:cNvPr id="21" name="Freeform 4"/>
            <p:cNvSpPr>
              <a:spLocks/>
            </p:cNvSpPr>
            <p:nvPr/>
          </p:nvSpPr>
          <p:spPr bwMode="auto">
            <a:xfrm>
              <a:off x="0" y="0"/>
              <a:ext cx="2066925" cy="695325"/>
            </a:xfrm>
            <a:custGeom>
              <a:avLst/>
              <a:gdLst/>
              <a:ahLst/>
              <a:cxnLst>
                <a:cxn ang="0">
                  <a:pos x="955" y="637"/>
                </a:cxn>
                <a:cxn ang="0">
                  <a:pos x="1908" y="319"/>
                </a:cxn>
                <a:cxn ang="0">
                  <a:pos x="1670" y="319"/>
                </a:cxn>
                <a:cxn ang="0">
                  <a:pos x="1670" y="0"/>
                </a:cxn>
                <a:cxn ang="0">
                  <a:pos x="239" y="0"/>
                </a:cxn>
                <a:cxn ang="0">
                  <a:pos x="239" y="319"/>
                </a:cxn>
                <a:cxn ang="0">
                  <a:pos x="0" y="319"/>
                </a:cxn>
                <a:cxn ang="0">
                  <a:pos x="955" y="637"/>
                </a:cxn>
              </a:cxnLst>
              <a:rect l="0" t="0" r="r" b="b"/>
              <a:pathLst>
                <a:path w="1909" h="638">
                  <a:moveTo>
                    <a:pt x="955" y="637"/>
                  </a:moveTo>
                  <a:lnTo>
                    <a:pt x="1908" y="319"/>
                  </a:lnTo>
                  <a:lnTo>
                    <a:pt x="1670" y="319"/>
                  </a:lnTo>
                  <a:lnTo>
                    <a:pt x="1670" y="0"/>
                  </a:lnTo>
                  <a:lnTo>
                    <a:pt x="239" y="0"/>
                  </a:lnTo>
                  <a:lnTo>
                    <a:pt x="239" y="319"/>
                  </a:lnTo>
                  <a:lnTo>
                    <a:pt x="0" y="319"/>
                  </a:lnTo>
                  <a:lnTo>
                    <a:pt x="955" y="637"/>
                  </a:lnTo>
                </a:path>
              </a:pathLst>
            </a:custGeom>
            <a:grpFill/>
            <a:ln w="12700" cap="rnd" cmpd="sng">
              <a:noFill/>
              <a:prstDash val="solid"/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algn="r" eaLnBrk="0" hangingPunct="0">
                <a:defRPr/>
              </a:pPr>
              <a:endParaRPr lang="en-US" sz="2000">
                <a:solidFill>
                  <a:prstClr val="black"/>
                </a:solidFill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320567" y="31532"/>
              <a:ext cx="1438275" cy="38185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 eaLnBrk="0" hangingPunct="0">
                <a:defRPr/>
              </a:pPr>
              <a:r>
                <a:rPr lang="en-US" sz="1600" b="1" dirty="0">
                  <a:ln w="11430"/>
                  <a:solidFill>
                    <a:srgbClr val="FFC0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Arial" charset="0"/>
                </a:rPr>
                <a:t>ANALYZE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371600" y="874197"/>
            <a:ext cx="2303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/>
              <a:t>Kemungkinan Penyebab Masalah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40" y="1173440"/>
            <a:ext cx="4414011" cy="34025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52149" y="4129706"/>
            <a:ext cx="3955359" cy="523220"/>
          </a:xfrm>
          <a:prstGeom prst="rect">
            <a:avLst/>
          </a:prstGeom>
          <a:solidFill>
            <a:srgbClr val="EBB0F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Team </a:t>
            </a:r>
            <a:r>
              <a:rPr lang="en-US" sz="1400" b="1" dirty="0" err="1"/>
              <a:t>memutuskan</a:t>
            </a:r>
            <a:r>
              <a:rPr lang="en-US" sz="1400" b="1" dirty="0"/>
              <a:t> total score </a:t>
            </a:r>
            <a:r>
              <a:rPr lang="en-US" sz="1400" b="1" dirty="0" err="1"/>
              <a:t>sangat</a:t>
            </a:r>
            <a:r>
              <a:rPr lang="en-US" sz="1400" b="1" dirty="0"/>
              <a:t> </a:t>
            </a:r>
            <a:r>
              <a:rPr lang="en-US" sz="1400" b="1" dirty="0" err="1"/>
              <a:t>kritikal</a:t>
            </a:r>
            <a:r>
              <a:rPr lang="en-US" sz="1400" b="1" dirty="0"/>
              <a:t> </a:t>
            </a:r>
            <a:r>
              <a:rPr lang="en-US" sz="1400" b="1" dirty="0" err="1"/>
              <a:t>atau</a:t>
            </a:r>
            <a:r>
              <a:rPr lang="en-US" sz="1400" b="1" dirty="0"/>
              <a:t> 60 </a:t>
            </a:r>
            <a:r>
              <a:rPr lang="en-US" sz="1400" b="1" dirty="0" err="1"/>
              <a:t>layak</a:t>
            </a:r>
            <a:r>
              <a:rPr lang="en-US" sz="1400" b="1" dirty="0"/>
              <a:t> </a:t>
            </a:r>
            <a:r>
              <a:rPr lang="en-US" sz="1400" b="1" dirty="0" err="1"/>
              <a:t>untuk</a:t>
            </a:r>
            <a:r>
              <a:rPr lang="en-US" sz="1400" b="1" dirty="0"/>
              <a:t> di </a:t>
            </a:r>
            <a:r>
              <a:rPr lang="en-US" sz="1400" b="1" dirty="0" err="1"/>
              <a:t>verifikasi</a:t>
            </a:r>
            <a:endParaRPr lang="en-US" sz="14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71" y="1264468"/>
            <a:ext cx="3733800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1762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02" t="2529" r="36359" b="90079"/>
          <a:stretch/>
        </p:blipFill>
        <p:spPr bwMode="auto">
          <a:xfrm>
            <a:off x="5638800" y="990600"/>
            <a:ext cx="2438400" cy="399604"/>
          </a:xfrm>
          <a:prstGeom prst="rect">
            <a:avLst/>
          </a:prstGeom>
          <a:ln w="19050">
            <a:solidFill>
              <a:srgbClr val="00B050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4302" y="152400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IMPROVE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09600" y="990600"/>
            <a:ext cx="2438400" cy="42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 bwMode="auto">
          <a:xfrm>
            <a:off x="2209800" y="228600"/>
            <a:ext cx="594359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lvl="0" algn="ctr">
              <a:spcBef>
                <a:spcPct val="50000"/>
              </a:spcBef>
              <a:defRPr sz="2800" b="1" i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defRPr>
            </a:lvl1pPr>
          </a:lstStyle>
          <a:p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Perbandingan</a:t>
            </a:r>
            <a:r>
              <a:rPr lang="en-US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Proses </a:t>
            </a:r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Sebelum</a:t>
            </a:r>
            <a:r>
              <a:rPr lang="en-US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Dan </a:t>
            </a:r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Setelah</a:t>
            </a:r>
            <a:r>
              <a:rPr lang="en-US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en-US" dirty="0" err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perbaikan</a:t>
            </a:r>
            <a:endParaRPr lang="en-US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57200" y="4343400"/>
            <a:ext cx="3962400" cy="1828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Pin after cutting di polishing </a:t>
            </a:r>
            <a:r>
              <a:rPr lang="en-US" b="1" dirty="0" err="1">
                <a:solidFill>
                  <a:srgbClr val="FF0000"/>
                </a:solidFill>
              </a:rPr>
              <a:t>sebelum</a:t>
            </a:r>
            <a:r>
              <a:rPr lang="en-US" b="1" dirty="0">
                <a:solidFill>
                  <a:srgbClr val="FF0000"/>
                </a:solidFill>
              </a:rPr>
              <a:t> di tinning, </a:t>
            </a:r>
            <a:r>
              <a:rPr lang="en-US" b="1" dirty="0" err="1">
                <a:solidFill>
                  <a:srgbClr val="FF0000"/>
                </a:solidFill>
              </a:rPr>
              <a:t>hasil</a:t>
            </a:r>
            <a:r>
              <a:rPr lang="en-US" b="1" dirty="0">
                <a:solidFill>
                  <a:srgbClr val="FF0000"/>
                </a:solidFill>
              </a:rPr>
              <a:t> polishing </a:t>
            </a:r>
            <a:r>
              <a:rPr lang="en-US" b="1" dirty="0" err="1">
                <a:solidFill>
                  <a:srgbClr val="FF0000"/>
                </a:solidFill>
              </a:rPr>
              <a:t>membuat</a:t>
            </a:r>
            <a:r>
              <a:rPr lang="en-US" b="1" dirty="0">
                <a:solidFill>
                  <a:srgbClr val="FF0000"/>
                </a:solidFill>
              </a:rPr>
              <a:t> pin </a:t>
            </a:r>
            <a:r>
              <a:rPr lang="en-US" b="1" dirty="0" err="1">
                <a:solidFill>
                  <a:srgbClr val="FF0000"/>
                </a:solidFill>
              </a:rPr>
              <a:t>jadi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halus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rongga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pada</a:t>
            </a:r>
            <a:r>
              <a:rPr lang="en-US" b="1" dirty="0">
                <a:solidFill>
                  <a:srgbClr val="FF0000"/>
                </a:solidFill>
              </a:rPr>
              <a:t> pin </a:t>
            </a:r>
            <a:r>
              <a:rPr lang="en-US" b="1" dirty="0" err="1">
                <a:solidFill>
                  <a:srgbClr val="FF0000"/>
                </a:solidFill>
              </a:rPr>
              <a:t>tertutup</a:t>
            </a:r>
            <a:r>
              <a:rPr lang="en-US" b="1" dirty="0">
                <a:solidFill>
                  <a:srgbClr val="FF0000"/>
                </a:solidFill>
              </a:rPr>
              <a:t> yang </a:t>
            </a:r>
            <a:r>
              <a:rPr lang="en-US" b="1" dirty="0" err="1">
                <a:solidFill>
                  <a:srgbClr val="FF0000"/>
                </a:solidFill>
              </a:rPr>
              <a:t>menyebabkan</a:t>
            </a:r>
            <a:r>
              <a:rPr lang="en-US" b="1" dirty="0">
                <a:solidFill>
                  <a:srgbClr val="FF0000"/>
                </a:solidFill>
              </a:rPr>
              <a:t>  tinning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menempel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sempurna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pada</a:t>
            </a:r>
            <a:r>
              <a:rPr lang="en-US" b="1" dirty="0">
                <a:solidFill>
                  <a:srgbClr val="FF0000"/>
                </a:solidFill>
              </a:rPr>
              <a:t> pin tungsten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191000"/>
            <a:ext cx="3962400" cy="18288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Pin after cutting di etching </a:t>
            </a:r>
            <a:r>
              <a:rPr lang="en-US" b="1" dirty="0" err="1">
                <a:solidFill>
                  <a:srgbClr val="0000FF"/>
                </a:solidFill>
              </a:rPr>
              <a:t>sebelum</a:t>
            </a:r>
            <a:r>
              <a:rPr lang="en-US" b="1" dirty="0">
                <a:solidFill>
                  <a:srgbClr val="0000FF"/>
                </a:solidFill>
              </a:rPr>
              <a:t> di tinning, </a:t>
            </a:r>
            <a:r>
              <a:rPr lang="en-US" b="1" dirty="0" err="1">
                <a:solidFill>
                  <a:srgbClr val="0000FF"/>
                </a:solidFill>
              </a:rPr>
              <a:t>hasil</a:t>
            </a:r>
            <a:r>
              <a:rPr lang="en-US" b="1" dirty="0">
                <a:solidFill>
                  <a:srgbClr val="0000FF"/>
                </a:solidFill>
              </a:rPr>
              <a:t> Etching </a:t>
            </a:r>
            <a:r>
              <a:rPr lang="en-US" b="1" dirty="0" err="1">
                <a:solidFill>
                  <a:srgbClr val="0000FF"/>
                </a:solidFill>
              </a:rPr>
              <a:t>tidak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mengubah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permukaan</a:t>
            </a:r>
            <a:r>
              <a:rPr lang="en-US" b="1" dirty="0">
                <a:solidFill>
                  <a:srgbClr val="0000FF"/>
                </a:solidFill>
              </a:rPr>
              <a:t> pin, </a:t>
            </a:r>
            <a:r>
              <a:rPr lang="en-US" b="1" dirty="0" err="1">
                <a:solidFill>
                  <a:srgbClr val="0000FF"/>
                </a:solidFill>
              </a:rPr>
              <a:t>tetap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ada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rongga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pada</a:t>
            </a:r>
            <a:r>
              <a:rPr lang="en-US" b="1" dirty="0">
                <a:solidFill>
                  <a:srgbClr val="0000FF"/>
                </a:solidFill>
              </a:rPr>
              <a:t> pin </a:t>
            </a:r>
            <a:r>
              <a:rPr lang="en-US" b="1" dirty="0" err="1">
                <a:solidFill>
                  <a:srgbClr val="0000FF"/>
                </a:solidFill>
              </a:rPr>
              <a:t>sehingga</a:t>
            </a:r>
            <a:r>
              <a:rPr lang="en-US" b="1" dirty="0">
                <a:solidFill>
                  <a:srgbClr val="0000FF"/>
                </a:solidFill>
              </a:rPr>
              <a:t> tinning </a:t>
            </a:r>
            <a:r>
              <a:rPr lang="en-US" b="1" dirty="0" err="1">
                <a:solidFill>
                  <a:srgbClr val="0000FF"/>
                </a:solidFill>
              </a:rPr>
              <a:t>menempel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sempurna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dan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kuat</a:t>
            </a:r>
            <a:r>
              <a:rPr lang="en-US" b="1" dirty="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978669" y="2281989"/>
            <a:ext cx="2438400" cy="11321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t="9048"/>
          <a:stretch/>
        </p:blipFill>
        <p:spPr>
          <a:xfrm rot="16200000">
            <a:off x="6630615" y="2198234"/>
            <a:ext cx="2364829" cy="1140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66014"/>
            <a:ext cx="1620096" cy="20916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5682" y="1686783"/>
            <a:ext cx="1600200" cy="20708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9740" y="3770329"/>
            <a:ext cx="1752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Pin Polishing 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6756" y="4038600"/>
            <a:ext cx="1752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Pin </a:t>
            </a:r>
            <a:r>
              <a:rPr lang="en-US" sz="1400" b="1" dirty="0" err="1">
                <a:solidFill>
                  <a:srgbClr val="FF0000"/>
                </a:solidFill>
              </a:rPr>
              <a:t>Hasil</a:t>
            </a:r>
            <a:r>
              <a:rPr lang="en-US" sz="1400" b="1" dirty="0">
                <a:solidFill>
                  <a:srgbClr val="FF0000"/>
                </a:solidFill>
              </a:rPr>
              <a:t> Polishing</a:t>
            </a:r>
          </a:p>
        </p:txBody>
      </p:sp>
      <p:sp>
        <p:nvSpPr>
          <p:cNvPr id="15" name="Oval 14"/>
          <p:cNvSpPr/>
          <p:nvPr/>
        </p:nvSpPr>
        <p:spPr>
          <a:xfrm>
            <a:off x="2741697" y="1666014"/>
            <a:ext cx="533400" cy="1361217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878674" y="3798267"/>
            <a:ext cx="1752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Pin Etching proses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2253" y="3886200"/>
            <a:ext cx="1752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Pin </a:t>
            </a:r>
            <a:r>
              <a:rPr lang="en-US" sz="1400" b="1" dirty="0" err="1">
                <a:solidFill>
                  <a:srgbClr val="0000FF"/>
                </a:solidFill>
              </a:rPr>
              <a:t>Hasil</a:t>
            </a:r>
            <a:r>
              <a:rPr lang="en-US" sz="1400" b="1" dirty="0">
                <a:solidFill>
                  <a:srgbClr val="0000FF"/>
                </a:solidFill>
              </a:rPr>
              <a:t> Etching</a:t>
            </a:r>
          </a:p>
        </p:txBody>
      </p:sp>
      <p:sp>
        <p:nvSpPr>
          <p:cNvPr id="18" name="Oval 17"/>
          <p:cNvSpPr/>
          <p:nvPr/>
        </p:nvSpPr>
        <p:spPr>
          <a:xfrm>
            <a:off x="7467600" y="1531684"/>
            <a:ext cx="609600" cy="1606878"/>
          </a:xfrm>
          <a:prstGeom prst="ellipse">
            <a:avLst/>
          </a:prstGeom>
          <a:noFill/>
          <a:ln w="95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3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1002" y="892099"/>
            <a:ext cx="8534398" cy="51277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CONTROL</a:t>
            </a:r>
          </a:p>
        </p:txBody>
      </p:sp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380999" y="886257"/>
            <a:ext cx="5996216" cy="307777"/>
          </a:xfrm>
          <a:prstGeom prst="rect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solidFill>
                  <a:schemeClr val="bg1"/>
                </a:solidFill>
                <a:ea typeface="ＭＳ Ｐゴシック" pitchFamily="34" charset="-128"/>
              </a:rPr>
              <a:t>PERBANDINGAN PARETO SEBELUM DAN SESUDAH PERBAIKAN</a:t>
            </a:r>
          </a:p>
        </p:txBody>
      </p:sp>
      <p:sp>
        <p:nvSpPr>
          <p:cNvPr id="31" name="WordArt 9"/>
          <p:cNvSpPr>
            <a:spLocks noChangeArrowheads="1" noChangeShapeType="1" noTextEdit="1"/>
          </p:cNvSpPr>
          <p:nvPr/>
        </p:nvSpPr>
        <p:spPr bwMode="auto">
          <a:xfrm>
            <a:off x="1753360" y="1492117"/>
            <a:ext cx="2590040" cy="34998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r" eaLnBrk="0" hangingPunct="0">
              <a:defRPr/>
            </a:pPr>
            <a:r>
              <a:rPr lang="en-US" sz="4400" b="1" kern="10" spc="150" dirty="0">
                <a:ln w="11430"/>
                <a:solidFill>
                  <a:srgbClr val="FF99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Impact"/>
                <a:ea typeface="ＭＳ Ｐゴシック" pitchFamily="34" charset="-128"/>
                <a:cs typeface="+mn-cs"/>
              </a:rPr>
              <a:t>Pareto Sebelum Perbaikan</a:t>
            </a:r>
          </a:p>
        </p:txBody>
      </p:sp>
      <p:sp>
        <p:nvSpPr>
          <p:cNvPr id="32" name="WordArt 10"/>
          <p:cNvSpPr>
            <a:spLocks noChangeArrowheads="1" noChangeShapeType="1" noTextEdit="1"/>
          </p:cNvSpPr>
          <p:nvPr/>
        </p:nvSpPr>
        <p:spPr bwMode="auto">
          <a:xfrm>
            <a:off x="5171643" y="1478814"/>
            <a:ext cx="2590800" cy="349986"/>
          </a:xfrm>
          <a:prstGeom prst="rect">
            <a:avLst/>
          </a:prstGeom>
          <a:noFill/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r" eaLnBrk="0" hangingPunct="0">
              <a:defRPr/>
            </a:pPr>
            <a:r>
              <a:rPr lang="en-US" sz="6000" b="1" kern="10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Impact"/>
                <a:ea typeface="ＭＳ Ｐゴシック" pitchFamily="34" charset="-128"/>
                <a:cs typeface="+mn-cs"/>
              </a:rPr>
              <a:t>Pareto Setelah Perbaikan</a:t>
            </a:r>
          </a:p>
        </p:txBody>
      </p:sp>
      <p:grpSp>
        <p:nvGrpSpPr>
          <p:cNvPr id="33" name="Group 11"/>
          <p:cNvGrpSpPr>
            <a:grpSpLocks/>
          </p:cNvGrpSpPr>
          <p:nvPr/>
        </p:nvGrpSpPr>
        <p:grpSpPr bwMode="auto">
          <a:xfrm>
            <a:off x="4800600" y="1447800"/>
            <a:ext cx="267504" cy="389200"/>
            <a:chOff x="2598" y="635"/>
            <a:chExt cx="549" cy="511"/>
          </a:xfrm>
        </p:grpSpPr>
        <p:sp>
          <p:nvSpPr>
            <p:cNvPr id="34" name="Oval 12"/>
            <p:cNvSpPr>
              <a:spLocks noChangeArrowheads="1"/>
            </p:cNvSpPr>
            <p:nvPr/>
          </p:nvSpPr>
          <p:spPr bwMode="auto">
            <a:xfrm>
              <a:off x="2598" y="726"/>
              <a:ext cx="432" cy="420"/>
            </a:xfrm>
            <a:prstGeom prst="ellipse">
              <a:avLst/>
            </a:prstGeom>
            <a:solidFill>
              <a:srgbClr val="C0C0C0">
                <a:alpha val="23137"/>
              </a:srgbClr>
            </a:solidFill>
            <a:ln w="57150" algn="ctr">
              <a:solidFill>
                <a:srgbClr val="8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endParaRPr lang="en-US">
                <a:cs typeface="ＭＳ Ｐゴシック"/>
              </a:endParaRPr>
            </a:p>
          </p:txBody>
        </p:sp>
        <p:sp>
          <p:nvSpPr>
            <p:cNvPr id="35" name="Freeform 13"/>
            <p:cNvSpPr>
              <a:spLocks/>
            </p:cNvSpPr>
            <p:nvPr/>
          </p:nvSpPr>
          <p:spPr bwMode="auto">
            <a:xfrm>
              <a:off x="2643" y="635"/>
              <a:ext cx="504" cy="390"/>
            </a:xfrm>
            <a:custGeom>
              <a:avLst/>
              <a:gdLst/>
              <a:ahLst/>
              <a:cxnLst>
                <a:cxn ang="0">
                  <a:pos x="0" y="270"/>
                </a:cxn>
                <a:cxn ang="0">
                  <a:pos x="90" y="222"/>
                </a:cxn>
                <a:cxn ang="0">
                  <a:pos x="162" y="360"/>
                </a:cxn>
                <a:cxn ang="0">
                  <a:pos x="414" y="0"/>
                </a:cxn>
                <a:cxn ang="0">
                  <a:pos x="504" y="84"/>
                </a:cxn>
                <a:cxn ang="0">
                  <a:pos x="174" y="390"/>
                </a:cxn>
                <a:cxn ang="0">
                  <a:pos x="0" y="270"/>
                </a:cxn>
              </a:cxnLst>
              <a:rect l="0" t="0" r="r" b="b"/>
              <a:pathLst>
                <a:path w="504" h="390">
                  <a:moveTo>
                    <a:pt x="0" y="270"/>
                  </a:moveTo>
                  <a:lnTo>
                    <a:pt x="90" y="222"/>
                  </a:lnTo>
                  <a:lnTo>
                    <a:pt x="162" y="360"/>
                  </a:lnTo>
                  <a:lnTo>
                    <a:pt x="414" y="0"/>
                  </a:lnTo>
                  <a:lnTo>
                    <a:pt x="504" y="84"/>
                  </a:lnTo>
                  <a:lnTo>
                    <a:pt x="174" y="390"/>
                  </a:lnTo>
                  <a:lnTo>
                    <a:pt x="0" y="270"/>
                  </a:lnTo>
                  <a:close/>
                </a:path>
              </a:pathLst>
            </a:custGeom>
            <a:gradFill rotWithShape="1">
              <a:gsLst>
                <a:gs pos="0">
                  <a:srgbClr val="00FF00">
                    <a:gamma/>
                    <a:shade val="46275"/>
                    <a:invGamma/>
                  </a:srgbClr>
                </a:gs>
                <a:gs pos="50000">
                  <a:srgbClr val="00FF00">
                    <a:alpha val="60001"/>
                  </a:srgbClr>
                </a:gs>
                <a:gs pos="100000">
                  <a:srgbClr val="00FF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r" eaLnBrk="0" hangingPunct="0">
                <a:defRPr/>
              </a:pPr>
              <a:endParaRPr lang="en-US"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36" name="Group 23"/>
          <p:cNvGrpSpPr>
            <a:grpSpLocks/>
          </p:cNvGrpSpPr>
          <p:nvPr/>
        </p:nvGrpSpPr>
        <p:grpSpPr bwMode="auto">
          <a:xfrm>
            <a:off x="1295400" y="1437435"/>
            <a:ext cx="234286" cy="391380"/>
            <a:chOff x="571365" y="752475"/>
            <a:chExt cx="866775" cy="742950"/>
          </a:xfrm>
        </p:grpSpPr>
        <p:sp>
          <p:nvSpPr>
            <p:cNvPr id="37" name="Oval 15"/>
            <p:cNvSpPr>
              <a:spLocks noChangeArrowheads="1"/>
            </p:cNvSpPr>
            <p:nvPr/>
          </p:nvSpPr>
          <p:spPr bwMode="auto">
            <a:xfrm flipH="1">
              <a:off x="571365" y="828675"/>
              <a:ext cx="685800" cy="666750"/>
            </a:xfrm>
            <a:prstGeom prst="ellipse">
              <a:avLst/>
            </a:prstGeom>
            <a:solidFill>
              <a:srgbClr val="C0C0C0">
                <a:alpha val="23137"/>
              </a:srgbClr>
            </a:solidFill>
            <a:ln w="57150" algn="ctr">
              <a:solidFill>
                <a:srgbClr val="8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endParaRPr lang="en-US">
                <a:cs typeface="ＭＳ Ｐゴシック"/>
              </a:endParaRPr>
            </a:p>
          </p:txBody>
        </p:sp>
        <p:sp>
          <p:nvSpPr>
            <p:cNvPr id="46" name="Freeform 16"/>
            <p:cNvSpPr>
              <a:spLocks/>
            </p:cNvSpPr>
            <p:nvPr/>
          </p:nvSpPr>
          <p:spPr bwMode="auto">
            <a:xfrm flipH="1">
              <a:off x="609465" y="752475"/>
              <a:ext cx="828675" cy="628650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70" y="234"/>
                </a:cxn>
                <a:cxn ang="0">
                  <a:pos x="156" y="378"/>
                </a:cxn>
                <a:cxn ang="0">
                  <a:pos x="252" y="372"/>
                </a:cxn>
                <a:cxn ang="0">
                  <a:pos x="312" y="288"/>
                </a:cxn>
                <a:cxn ang="0">
                  <a:pos x="414" y="396"/>
                </a:cxn>
                <a:cxn ang="0">
                  <a:pos x="522" y="396"/>
                </a:cxn>
                <a:cxn ang="0">
                  <a:pos x="348" y="252"/>
                </a:cxn>
                <a:cxn ang="0">
                  <a:pos x="480" y="102"/>
                </a:cxn>
                <a:cxn ang="0">
                  <a:pos x="396" y="78"/>
                </a:cxn>
                <a:cxn ang="0">
                  <a:pos x="300" y="198"/>
                </a:cxn>
                <a:cxn ang="0">
                  <a:pos x="132" y="0"/>
                </a:cxn>
                <a:cxn ang="0">
                  <a:pos x="0" y="30"/>
                </a:cxn>
              </a:cxnLst>
              <a:rect l="0" t="0" r="r" b="b"/>
              <a:pathLst>
                <a:path w="522" h="396">
                  <a:moveTo>
                    <a:pt x="0" y="24"/>
                  </a:moveTo>
                  <a:lnTo>
                    <a:pt x="270" y="234"/>
                  </a:lnTo>
                  <a:lnTo>
                    <a:pt x="156" y="378"/>
                  </a:lnTo>
                  <a:lnTo>
                    <a:pt x="252" y="372"/>
                  </a:lnTo>
                  <a:lnTo>
                    <a:pt x="312" y="288"/>
                  </a:lnTo>
                  <a:lnTo>
                    <a:pt x="414" y="396"/>
                  </a:lnTo>
                  <a:lnTo>
                    <a:pt x="522" y="396"/>
                  </a:lnTo>
                  <a:lnTo>
                    <a:pt x="348" y="252"/>
                  </a:lnTo>
                  <a:lnTo>
                    <a:pt x="480" y="102"/>
                  </a:lnTo>
                  <a:lnTo>
                    <a:pt x="396" y="78"/>
                  </a:lnTo>
                  <a:lnTo>
                    <a:pt x="300" y="198"/>
                  </a:lnTo>
                  <a:lnTo>
                    <a:pt x="132" y="0"/>
                  </a:lnTo>
                  <a:lnTo>
                    <a:pt x="0" y="30"/>
                  </a:lnTo>
                </a:path>
              </a:pathLst>
            </a:custGeom>
            <a:gradFill rotWithShape="1">
              <a:gsLst>
                <a:gs pos="0">
                  <a:srgbClr val="FF3300">
                    <a:gamma/>
                    <a:shade val="46275"/>
                    <a:invGamma/>
                  </a:srgbClr>
                </a:gs>
                <a:gs pos="50000">
                  <a:srgbClr val="FF3300">
                    <a:alpha val="50000"/>
                  </a:srgbClr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r" eaLnBrk="0" hangingPunct="0">
                <a:defRPr/>
              </a:pPr>
              <a:endParaRPr lang="en-US">
                <a:ea typeface="ＭＳ Ｐゴシック" pitchFamily="34" charset="-128"/>
                <a:cs typeface="+mn-cs"/>
              </a:endParaRPr>
            </a:p>
          </p:txBody>
        </p:sp>
      </p:grpSp>
      <p:sp>
        <p:nvSpPr>
          <p:cNvPr id="47" name="Rectangle 37"/>
          <p:cNvSpPr>
            <a:spLocks noChangeArrowheads="1"/>
          </p:cNvSpPr>
          <p:nvPr/>
        </p:nvSpPr>
        <p:spPr bwMode="auto">
          <a:xfrm>
            <a:off x="771053" y="4843161"/>
            <a:ext cx="7543800" cy="749232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Setelah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improvement 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tidak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ada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en-US" sz="2000" b="1" i="0" u="none" strike="noStrike" kern="0" cap="none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lagi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issue Peel Off Plating </a:t>
            </a:r>
            <a:r>
              <a:rPr kumimoji="0" lang="en-US" sz="2000" b="1" i="0" u="none" strike="noStrike" kern="0" cap="none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atau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improvement 100%</a:t>
            </a:r>
            <a:endParaRPr lang="en-US" sz="2000" b="1" kern="0" dirty="0">
              <a:solidFill>
                <a:srgbClr val="0000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088" y="2010697"/>
            <a:ext cx="3740078" cy="2627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23" y="1987519"/>
            <a:ext cx="3740078" cy="263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7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81002" y="892099"/>
            <a:ext cx="8534398" cy="51277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65976" y="208956"/>
            <a:ext cx="1849427" cy="46230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ＭＳ Ｐゴシック" pitchFamily="34" charset="-128"/>
              </a:rP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200" y="952211"/>
            <a:ext cx="5562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b="1" dirty="0">
                <a:ea typeface="ＭＳ Ｐゴシック" pitchFamily="34" charset="-128"/>
              </a:rPr>
              <a:t>Standarisasi </a:t>
            </a:r>
            <a:r>
              <a:rPr lang="en-US" altLang="en-US" sz="1600" b="1" dirty="0" err="1">
                <a:ea typeface="ＭＳ Ｐゴシック" pitchFamily="34" charset="-128"/>
              </a:rPr>
              <a:t>untuk</a:t>
            </a:r>
            <a:r>
              <a:rPr lang="en-US" altLang="en-US" sz="1600" b="1" dirty="0">
                <a:ea typeface="ＭＳ Ｐゴシック" pitchFamily="34" charset="-128"/>
              </a:rPr>
              <a:t> </a:t>
            </a:r>
            <a:r>
              <a:rPr lang="en-US" altLang="en-US" sz="1600" b="1" dirty="0" err="1">
                <a:ea typeface="ＭＳ Ｐゴシック" pitchFamily="34" charset="-128"/>
              </a:rPr>
              <a:t>menjaga</a:t>
            </a:r>
            <a:r>
              <a:rPr lang="en-US" altLang="en-US" sz="1600" b="1" dirty="0">
                <a:ea typeface="ＭＳ Ｐゴシック" pitchFamily="34" charset="-128"/>
              </a:rPr>
              <a:t> improvement yang </a:t>
            </a:r>
            <a:r>
              <a:rPr lang="en-US" altLang="en-US" sz="1600" b="1" dirty="0" err="1">
                <a:ea typeface="ＭＳ Ｐゴシック" pitchFamily="34" charset="-128"/>
              </a:rPr>
              <a:t>telah</a:t>
            </a:r>
            <a:r>
              <a:rPr lang="en-US" altLang="en-US" sz="1600" b="1" dirty="0">
                <a:ea typeface="ＭＳ Ｐゴシック" pitchFamily="34" charset="-128"/>
              </a:rPr>
              <a:t> </a:t>
            </a:r>
            <a:r>
              <a:rPr lang="en-US" altLang="en-US" sz="1600" b="1" dirty="0" err="1">
                <a:ea typeface="ＭＳ Ｐゴシック" pitchFamily="34" charset="-128"/>
              </a:rPr>
              <a:t>dicapai</a:t>
            </a:r>
            <a:endParaRPr lang="en-US" altLang="en-US" sz="1600" b="1" dirty="0">
              <a:ea typeface="ＭＳ Ｐゴシック" pitchFamily="34" charset="-12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86101" y="1357712"/>
            <a:ext cx="3124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 i="1" u="sng" dirty="0">
                <a:ea typeface="ＭＳ Ｐゴシック" pitchFamily="34" charset="-128"/>
              </a:rPr>
              <a:t> UPDATE DEVICE SPEC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1690574"/>
            <a:ext cx="3886200" cy="414345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81199" y="4191000"/>
            <a:ext cx="2200601" cy="1524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16056"/>
            <a:ext cx="3266172" cy="37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450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22E8BEC634FB48BDA7AED1857008D4" ma:contentTypeVersion="1" ma:contentTypeDescription="Create a new document." ma:contentTypeScope="" ma:versionID="48c240b634c3f86c82719f9a26e15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c6d6999b258fe523918ae99dde6732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F169D2-5C9C-4E50-8A1D-7E8EEA87B4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7C766B-E1E7-4D90-889A-43F61720E5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1376A6-D89A-440A-8371-B15ACF1D14E1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12972</TotalTime>
  <Words>1118</Words>
  <Application>Microsoft Office PowerPoint</Application>
  <PresentationFormat>On-screen Show (4:3)</PresentationFormat>
  <Paragraphs>242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4" baseType="lpstr">
      <vt:lpstr>ＭＳ Ｐゴシック</vt:lpstr>
      <vt:lpstr>Aharoni</vt:lpstr>
      <vt:lpstr>Arial</vt:lpstr>
      <vt:lpstr>Arial Black</vt:lpstr>
      <vt:lpstr>Arial Narrow</vt:lpstr>
      <vt:lpstr>Berlin Sans FB</vt:lpstr>
      <vt:lpstr>Bodoni MT Black</vt:lpstr>
      <vt:lpstr>Calibri</vt:lpstr>
      <vt:lpstr>Centaur</vt:lpstr>
      <vt:lpstr>Century Gothic</vt:lpstr>
      <vt:lpstr>Comic Sans MS</vt:lpstr>
      <vt:lpstr>Courier New</vt:lpstr>
      <vt:lpstr>Georgia</vt:lpstr>
      <vt:lpstr>Goudy Stout</vt:lpstr>
      <vt:lpstr>Helvetica</vt:lpstr>
      <vt:lpstr>Impact</vt:lpstr>
      <vt:lpstr>Times New Roman</vt:lpstr>
      <vt:lpstr>Wingdings</vt:lpstr>
      <vt:lpstr>Wingdings 3</vt:lpstr>
      <vt:lpstr>Default Design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SIPOC  Diagram</vt:lpstr>
      <vt:lpstr>PROCESS FLOW  </vt:lpstr>
      <vt:lpstr>PowerPoint Presentation</vt:lpstr>
      <vt:lpstr>     VERIFIKASI KEMUNGKINAN PENYEBAB MASALAH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McLellan, Tricia</dc:creator>
  <cp:lastModifiedBy>Bhakti Roesyadi</cp:lastModifiedBy>
  <cp:revision>436</cp:revision>
  <cp:lastPrinted>2015-03-23T04:11:42Z</cp:lastPrinted>
  <dcterms:created xsi:type="dcterms:W3CDTF">2013-12-05T18:50:13Z</dcterms:created>
  <dcterms:modified xsi:type="dcterms:W3CDTF">2026-03-14T13:56:52Z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0x010100BF22E8BEC634FB48BDA7AED1857008D4</vt:lpwstr>
  </property>
</Properties>
</file>